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5" r:id="rId14"/>
  </p:sldIdLst>
  <p:sldSz cx="18288000" cy="10287000"/>
  <p:notesSz cx="6858000" cy="9144000"/>
  <p:embeddedFontLst>
    <p:embeddedFont>
      <p:font typeface="Garet" panose="020B0604020202020204" charset="0"/>
      <p:regular r:id="rId15"/>
    </p:embeddedFont>
    <p:embeddedFont>
      <p:font typeface="Garet Bold" panose="020B0604020202020204" charset="0"/>
      <p:regular r:id="rId16"/>
    </p:embeddedFont>
    <p:embeddedFont>
      <p:font typeface="Open Sans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220995-47C3-4A12-99CA-2F83D78654B2}" v="1" dt="2026-05-01T06:57:42.2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3607"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a:off x="5839513" y="5709832"/>
            <a:ext cx="6608973" cy="629717"/>
            <a:chOff x="0" y="0"/>
            <a:chExt cx="3929104" cy="374374"/>
          </a:xfrm>
        </p:grpSpPr>
        <p:sp>
          <p:nvSpPr>
            <p:cNvPr id="4" name="Freeform 4"/>
            <p:cNvSpPr/>
            <p:nvPr/>
          </p:nvSpPr>
          <p:spPr>
            <a:xfrm>
              <a:off x="0" y="0"/>
              <a:ext cx="3929104" cy="374374"/>
            </a:xfrm>
            <a:custGeom>
              <a:avLst/>
              <a:gdLst/>
              <a:ahLst/>
              <a:cxnLst/>
              <a:rect l="l" t="t" r="r" b="b"/>
              <a:pathLst>
                <a:path w="3929104" h="374374">
                  <a:moveTo>
                    <a:pt x="203200" y="0"/>
                  </a:moveTo>
                  <a:lnTo>
                    <a:pt x="3929104" y="0"/>
                  </a:lnTo>
                  <a:lnTo>
                    <a:pt x="3725904" y="374374"/>
                  </a:lnTo>
                  <a:lnTo>
                    <a:pt x="0" y="374374"/>
                  </a:lnTo>
                  <a:lnTo>
                    <a:pt x="203200" y="0"/>
                  </a:lnTo>
                  <a:close/>
                </a:path>
              </a:pathLst>
            </a:custGeom>
            <a:ln w="38100" cap="sq">
              <a:gradFill>
                <a:gsLst>
                  <a:gs pos="0">
                    <a:srgbClr val="004AAD">
                      <a:alpha val="100000"/>
                    </a:srgbClr>
                  </a:gs>
                  <a:gs pos="100000">
                    <a:srgbClr val="CB6CE6">
                      <a:alpha val="100000"/>
                    </a:srgbClr>
                  </a:gs>
                </a:gsLst>
                <a:path path="circle">
                  <a:fillToRect r="100000" b="100000"/>
                </a:path>
                <a:tileRect l="-100000" t="-100000"/>
              </a:gradFill>
              <a:prstDash val="solid"/>
              <a:miter/>
            </a:ln>
          </p:spPr>
        </p:sp>
        <p:sp>
          <p:nvSpPr>
            <p:cNvPr id="5" name="TextBox 5"/>
            <p:cNvSpPr txBox="1"/>
            <p:nvPr/>
          </p:nvSpPr>
          <p:spPr>
            <a:xfrm>
              <a:off x="101600" y="-47625"/>
              <a:ext cx="3725904" cy="421999"/>
            </a:xfrm>
            <a:prstGeom prst="rect">
              <a:avLst/>
            </a:prstGeom>
          </p:spPr>
          <p:txBody>
            <a:bodyPr lIns="50800" tIns="50800" rIns="50800" bIns="50800" rtlCol="0" anchor="ctr"/>
            <a:lstStyle/>
            <a:p>
              <a:pPr algn="ctr">
                <a:lnSpc>
                  <a:spcPts val="3621"/>
                </a:lnSpc>
              </a:pPr>
              <a:endParaRPr/>
            </a:p>
          </p:txBody>
        </p:sp>
      </p:grpSp>
      <p:grpSp>
        <p:nvGrpSpPr>
          <p:cNvPr id="6" name="Group 6"/>
          <p:cNvGrpSpPr/>
          <p:nvPr/>
        </p:nvGrpSpPr>
        <p:grpSpPr>
          <a:xfrm>
            <a:off x="-396864" y="-1647687"/>
            <a:ext cx="1425564" cy="6275709"/>
            <a:chOff x="0" y="0"/>
            <a:chExt cx="375457" cy="1652862"/>
          </a:xfrm>
        </p:grpSpPr>
        <p:sp>
          <p:nvSpPr>
            <p:cNvPr id="7" name="Freeform 7"/>
            <p:cNvSpPr/>
            <p:nvPr/>
          </p:nvSpPr>
          <p:spPr>
            <a:xfrm>
              <a:off x="0" y="0"/>
              <a:ext cx="375457" cy="1652862"/>
            </a:xfrm>
            <a:custGeom>
              <a:avLst/>
              <a:gdLst/>
              <a:ahLst/>
              <a:cxnLst/>
              <a:rect l="l" t="t" r="r" b="b"/>
              <a:pathLst>
                <a:path w="375457" h="1652862">
                  <a:moveTo>
                    <a:pt x="375457" y="0"/>
                  </a:moveTo>
                  <a:lnTo>
                    <a:pt x="375457" y="1538562"/>
                  </a:lnTo>
                  <a:lnTo>
                    <a:pt x="187729" y="1652862"/>
                  </a:lnTo>
                  <a:lnTo>
                    <a:pt x="0" y="1538562"/>
                  </a:lnTo>
                  <a:lnTo>
                    <a:pt x="0" y="0"/>
                  </a:lnTo>
                  <a:lnTo>
                    <a:pt x="375457" y="0"/>
                  </a:lnTo>
                  <a:close/>
                </a:path>
              </a:pathLst>
            </a:custGeom>
            <a:gradFill rotWithShape="1">
              <a:gsLst>
                <a:gs pos="0">
                  <a:srgbClr val="004AAD">
                    <a:alpha val="100000"/>
                  </a:srgbClr>
                </a:gs>
                <a:gs pos="100000">
                  <a:srgbClr val="CB6CE6">
                    <a:alpha val="100000"/>
                  </a:srgbClr>
                </a:gs>
              </a:gsLst>
              <a:lin ang="0"/>
            </a:gradFill>
          </p:spPr>
        </p:sp>
        <p:sp>
          <p:nvSpPr>
            <p:cNvPr id="8" name="TextBox 8"/>
            <p:cNvSpPr txBox="1"/>
            <p:nvPr/>
          </p:nvSpPr>
          <p:spPr>
            <a:xfrm>
              <a:off x="0" y="-47625"/>
              <a:ext cx="375457" cy="1586187"/>
            </a:xfrm>
            <a:prstGeom prst="rect">
              <a:avLst/>
            </a:prstGeom>
          </p:spPr>
          <p:txBody>
            <a:bodyPr lIns="50800" tIns="50800" rIns="50800" bIns="50800" rtlCol="0" anchor="ctr"/>
            <a:lstStyle/>
            <a:p>
              <a:pPr algn="ctr">
                <a:lnSpc>
                  <a:spcPts val="3621"/>
                </a:lnSpc>
              </a:pPr>
              <a:endParaRPr/>
            </a:p>
          </p:txBody>
        </p:sp>
      </p:grpSp>
      <p:grpSp>
        <p:nvGrpSpPr>
          <p:cNvPr id="9" name="Group 9"/>
          <p:cNvGrpSpPr/>
          <p:nvPr/>
        </p:nvGrpSpPr>
        <p:grpSpPr>
          <a:xfrm rot="5400000">
            <a:off x="14873559" y="6833228"/>
            <a:ext cx="1425564" cy="6275709"/>
            <a:chOff x="0" y="0"/>
            <a:chExt cx="375457" cy="1652862"/>
          </a:xfrm>
        </p:grpSpPr>
        <p:sp>
          <p:nvSpPr>
            <p:cNvPr id="10" name="Freeform 10"/>
            <p:cNvSpPr/>
            <p:nvPr/>
          </p:nvSpPr>
          <p:spPr>
            <a:xfrm>
              <a:off x="0" y="0"/>
              <a:ext cx="375457" cy="1652862"/>
            </a:xfrm>
            <a:custGeom>
              <a:avLst/>
              <a:gdLst/>
              <a:ahLst/>
              <a:cxnLst/>
              <a:rect l="l" t="t" r="r" b="b"/>
              <a:pathLst>
                <a:path w="375457" h="1652862">
                  <a:moveTo>
                    <a:pt x="375457" y="0"/>
                  </a:moveTo>
                  <a:lnTo>
                    <a:pt x="375457" y="1538562"/>
                  </a:lnTo>
                  <a:lnTo>
                    <a:pt x="187729" y="1652862"/>
                  </a:lnTo>
                  <a:lnTo>
                    <a:pt x="0" y="1538562"/>
                  </a:lnTo>
                  <a:lnTo>
                    <a:pt x="0" y="0"/>
                  </a:lnTo>
                  <a:lnTo>
                    <a:pt x="375457" y="0"/>
                  </a:lnTo>
                  <a:close/>
                </a:path>
              </a:pathLst>
            </a:custGeom>
            <a:gradFill rotWithShape="1">
              <a:gsLst>
                <a:gs pos="0">
                  <a:srgbClr val="004AAD">
                    <a:alpha val="100000"/>
                  </a:srgbClr>
                </a:gs>
                <a:gs pos="100000">
                  <a:srgbClr val="CB6CE6">
                    <a:alpha val="100000"/>
                  </a:srgbClr>
                </a:gs>
              </a:gsLst>
              <a:lin ang="0"/>
            </a:gradFill>
          </p:spPr>
        </p:sp>
        <p:sp>
          <p:nvSpPr>
            <p:cNvPr id="11" name="TextBox 11"/>
            <p:cNvSpPr txBox="1"/>
            <p:nvPr/>
          </p:nvSpPr>
          <p:spPr>
            <a:xfrm>
              <a:off x="0" y="-47625"/>
              <a:ext cx="375457" cy="1586187"/>
            </a:xfrm>
            <a:prstGeom prst="rect">
              <a:avLst/>
            </a:prstGeom>
          </p:spPr>
          <p:txBody>
            <a:bodyPr lIns="50800" tIns="50800" rIns="50800" bIns="50800" rtlCol="0" anchor="ctr"/>
            <a:lstStyle/>
            <a:p>
              <a:pPr algn="ctr">
                <a:lnSpc>
                  <a:spcPts val="3621"/>
                </a:lnSpc>
              </a:pPr>
              <a:endParaRPr/>
            </a:p>
          </p:txBody>
        </p:sp>
      </p:grpSp>
      <p:sp>
        <p:nvSpPr>
          <p:cNvPr id="12" name="AutoShape 12"/>
          <p:cNvSpPr/>
          <p:nvPr/>
        </p:nvSpPr>
        <p:spPr>
          <a:xfrm>
            <a:off x="5986727" y="9971082"/>
            <a:ext cx="6492240" cy="0"/>
          </a:xfrm>
          <a:prstGeom prst="line">
            <a:avLst/>
          </a:prstGeom>
          <a:ln w="38100" cap="flat">
            <a:solidFill>
              <a:srgbClr val="794CEC"/>
            </a:solidFill>
            <a:prstDash val="solid"/>
            <a:headEnd type="none" w="sm" len="sm"/>
            <a:tailEnd type="none" w="sm" len="sm"/>
          </a:ln>
        </p:spPr>
      </p:sp>
      <p:sp>
        <p:nvSpPr>
          <p:cNvPr id="13" name="AutoShape 13"/>
          <p:cNvSpPr/>
          <p:nvPr/>
        </p:nvSpPr>
        <p:spPr>
          <a:xfrm>
            <a:off x="13669106" y="465101"/>
            <a:ext cx="6492240" cy="0"/>
          </a:xfrm>
          <a:prstGeom prst="line">
            <a:avLst/>
          </a:prstGeom>
          <a:ln w="38100" cap="flat">
            <a:solidFill>
              <a:srgbClr val="794CEC"/>
            </a:solidFill>
            <a:prstDash val="solid"/>
            <a:headEnd type="none" w="sm" len="sm"/>
            <a:tailEnd type="none" w="sm" len="sm"/>
          </a:ln>
        </p:spPr>
      </p:sp>
      <p:sp>
        <p:nvSpPr>
          <p:cNvPr id="15" name="TextBox 15"/>
          <p:cNvSpPr txBox="1"/>
          <p:nvPr/>
        </p:nvSpPr>
        <p:spPr>
          <a:xfrm>
            <a:off x="1372773" y="2322087"/>
            <a:ext cx="15542452" cy="1958485"/>
          </a:xfrm>
          <a:prstGeom prst="rect">
            <a:avLst/>
          </a:prstGeom>
        </p:spPr>
        <p:txBody>
          <a:bodyPr lIns="0" tIns="0" rIns="0" bIns="0" rtlCol="0" anchor="t">
            <a:spAutoFit/>
          </a:bodyPr>
          <a:lstStyle/>
          <a:p>
            <a:pPr algn="ctr">
              <a:lnSpc>
                <a:spcPts val="17036"/>
              </a:lnSpc>
            </a:pPr>
            <a:r>
              <a:rPr lang="en-IN" sz="9600" b="1" dirty="0">
                <a:solidFill>
                  <a:schemeClr val="bg1"/>
                </a:solidFill>
              </a:rPr>
              <a:t>Sentiment Analysis System</a:t>
            </a:r>
            <a:endParaRPr lang="en-US" sz="12168" b="1" dirty="0">
              <a:solidFill>
                <a:schemeClr val="bg1"/>
              </a:solidFill>
              <a:latin typeface="Open Sans Bold"/>
              <a:ea typeface="Open Sans Bold"/>
              <a:cs typeface="Open Sans Bold"/>
              <a:sym typeface="Open Sans Bold"/>
            </a:endParaRPr>
          </a:p>
        </p:txBody>
      </p:sp>
      <p:sp>
        <p:nvSpPr>
          <p:cNvPr id="16" name="TextBox 16"/>
          <p:cNvSpPr txBox="1"/>
          <p:nvPr/>
        </p:nvSpPr>
        <p:spPr>
          <a:xfrm>
            <a:off x="6826615" y="5813959"/>
            <a:ext cx="4329801" cy="515526"/>
          </a:xfrm>
          <a:prstGeom prst="rect">
            <a:avLst/>
          </a:prstGeom>
        </p:spPr>
        <p:txBody>
          <a:bodyPr lIns="0" tIns="0" rIns="0" bIns="0" rtlCol="0" anchor="t">
            <a:spAutoFit/>
          </a:bodyPr>
          <a:lstStyle/>
          <a:p>
            <a:pPr algn="ctr">
              <a:lnSpc>
                <a:spcPts val="3621"/>
              </a:lnSpc>
            </a:pPr>
            <a:r>
              <a:rPr lang="en-IN" sz="4400" b="1" dirty="0">
                <a:solidFill>
                  <a:schemeClr val="bg1"/>
                </a:solidFill>
              </a:rPr>
              <a:t>Sentiment Pro-AI </a:t>
            </a:r>
            <a:endParaRPr lang="en-US" sz="4400" b="1" dirty="0">
              <a:solidFill>
                <a:schemeClr val="bg1"/>
              </a:solidFill>
              <a:latin typeface="Garet"/>
              <a:ea typeface="Garet"/>
              <a:cs typeface="Garet"/>
              <a:sym typeface="Gare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sp>
        <p:nvSpPr>
          <p:cNvPr id="3" name="TextBox 3"/>
          <p:cNvSpPr txBox="1"/>
          <p:nvPr/>
        </p:nvSpPr>
        <p:spPr>
          <a:xfrm>
            <a:off x="1586350" y="1364988"/>
            <a:ext cx="10416280" cy="1535292"/>
          </a:xfrm>
          <a:prstGeom prst="rect">
            <a:avLst/>
          </a:prstGeom>
        </p:spPr>
        <p:txBody>
          <a:bodyPr lIns="0" tIns="0" rIns="0" bIns="0" rtlCol="0" anchor="t">
            <a:spAutoFit/>
          </a:bodyPr>
          <a:lstStyle/>
          <a:p>
            <a:pPr>
              <a:lnSpc>
                <a:spcPts val="12599"/>
              </a:lnSpc>
            </a:pPr>
            <a:r>
              <a:rPr lang="en-IN" sz="9600" b="1" dirty="0">
                <a:solidFill>
                  <a:schemeClr val="bg1"/>
                </a:solidFill>
              </a:rPr>
              <a:t>Introduction</a:t>
            </a:r>
            <a:endParaRPr lang="en-US" sz="9000" b="1" dirty="0">
              <a:solidFill>
                <a:schemeClr val="bg1"/>
              </a:solidFill>
              <a:latin typeface="Open Sans Bold"/>
              <a:ea typeface="Open Sans Bold"/>
              <a:cs typeface="Open Sans Bold"/>
              <a:sym typeface="Open Sans Bold"/>
            </a:endParaRPr>
          </a:p>
        </p:txBody>
      </p:sp>
      <p:sp>
        <p:nvSpPr>
          <p:cNvPr id="6" name="AutoShape 6"/>
          <p:cNvSpPr/>
          <p:nvPr/>
        </p:nvSpPr>
        <p:spPr>
          <a:xfrm>
            <a:off x="-586668" y="9804967"/>
            <a:ext cx="6492240" cy="0"/>
          </a:xfrm>
          <a:prstGeom prst="line">
            <a:avLst/>
          </a:prstGeom>
          <a:ln w="38100" cap="flat">
            <a:solidFill>
              <a:srgbClr val="794CEC"/>
            </a:solidFill>
            <a:prstDash val="solid"/>
            <a:headEnd type="none" w="sm" len="sm"/>
            <a:tailEnd type="none" w="sm" len="sm"/>
          </a:ln>
        </p:spPr>
      </p:sp>
      <p:grpSp>
        <p:nvGrpSpPr>
          <p:cNvPr id="7" name="Group 7"/>
          <p:cNvGrpSpPr/>
          <p:nvPr/>
        </p:nvGrpSpPr>
        <p:grpSpPr>
          <a:xfrm rot="-5400000">
            <a:off x="702288" y="-2821936"/>
            <a:ext cx="1425564" cy="6275709"/>
            <a:chOff x="0" y="0"/>
            <a:chExt cx="375457" cy="1652862"/>
          </a:xfrm>
        </p:grpSpPr>
        <p:sp>
          <p:nvSpPr>
            <p:cNvPr id="8" name="Freeform 8"/>
            <p:cNvSpPr/>
            <p:nvPr/>
          </p:nvSpPr>
          <p:spPr>
            <a:xfrm>
              <a:off x="0" y="0"/>
              <a:ext cx="375457" cy="1652862"/>
            </a:xfrm>
            <a:custGeom>
              <a:avLst/>
              <a:gdLst/>
              <a:ahLst/>
              <a:cxnLst/>
              <a:rect l="l" t="t" r="r" b="b"/>
              <a:pathLst>
                <a:path w="375457" h="1652862">
                  <a:moveTo>
                    <a:pt x="375457" y="0"/>
                  </a:moveTo>
                  <a:lnTo>
                    <a:pt x="375457" y="1538562"/>
                  </a:lnTo>
                  <a:lnTo>
                    <a:pt x="187729" y="1652862"/>
                  </a:lnTo>
                  <a:lnTo>
                    <a:pt x="0" y="1538562"/>
                  </a:lnTo>
                  <a:lnTo>
                    <a:pt x="0" y="0"/>
                  </a:lnTo>
                  <a:lnTo>
                    <a:pt x="375457" y="0"/>
                  </a:lnTo>
                  <a:close/>
                </a:path>
              </a:pathLst>
            </a:custGeom>
            <a:gradFill rotWithShape="1">
              <a:gsLst>
                <a:gs pos="0">
                  <a:srgbClr val="004AAD">
                    <a:alpha val="100000"/>
                  </a:srgbClr>
                </a:gs>
                <a:gs pos="100000">
                  <a:srgbClr val="CB6CE6">
                    <a:alpha val="100000"/>
                  </a:srgbClr>
                </a:gs>
              </a:gsLst>
              <a:path path="circle">
                <a:fillToRect r="100000" b="100000"/>
              </a:path>
              <a:tileRect l="-100000" t="-100000"/>
            </a:gradFill>
          </p:spPr>
        </p:sp>
        <p:sp>
          <p:nvSpPr>
            <p:cNvPr id="9" name="TextBox 9"/>
            <p:cNvSpPr txBox="1"/>
            <p:nvPr/>
          </p:nvSpPr>
          <p:spPr>
            <a:xfrm>
              <a:off x="0" y="-47625"/>
              <a:ext cx="375457" cy="1586187"/>
            </a:xfrm>
            <a:prstGeom prst="rect">
              <a:avLst/>
            </a:prstGeom>
          </p:spPr>
          <p:txBody>
            <a:bodyPr lIns="50800" tIns="50800" rIns="50800" bIns="50800" rtlCol="0" anchor="ctr"/>
            <a:lstStyle/>
            <a:p>
              <a:pPr algn="ctr">
                <a:lnSpc>
                  <a:spcPts val="3621"/>
                </a:lnSpc>
              </a:pPr>
              <a:endParaRPr/>
            </a:p>
          </p:txBody>
        </p:sp>
      </p:grpSp>
      <p:sp>
        <p:nvSpPr>
          <p:cNvPr id="10" name="Rectangle 1">
            <a:extLst>
              <a:ext uri="{FF2B5EF4-FFF2-40B4-BE49-F238E27FC236}">
                <a16:creationId xmlns:a16="http://schemas.microsoft.com/office/drawing/2014/main" id="{DBA32D5C-6A95-4BB9-2FBE-544AA33A8378}"/>
              </a:ext>
            </a:extLst>
          </p:cNvPr>
          <p:cNvSpPr>
            <a:spLocks noChangeArrowheads="1"/>
          </p:cNvSpPr>
          <p:nvPr/>
        </p:nvSpPr>
        <p:spPr bwMode="auto">
          <a:xfrm>
            <a:off x="1162277" y="3308205"/>
            <a:ext cx="15963446"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Wingdings" panose="05000000000000000000" pitchFamily="2" charset="2"/>
              <a:buChar char="v"/>
            </a:pPr>
            <a:r>
              <a:rPr lang="en-US" sz="2800" b="1" dirty="0">
                <a:solidFill>
                  <a:schemeClr val="bg1"/>
                </a:solidFill>
              </a:rPr>
              <a:t>Sentiment Analysis is a Natural Language Processing (NLP) technique used to determine the emotional tone behind a piece of text. It helps in identifying whether the expressed opinion is positive, negative, or neutral. This technology plays a major role in understanding user feedback and improving services across industries.</a:t>
            </a:r>
          </a:p>
          <a:p>
            <a:pPr lvl="0" eaLnBrk="0" fontAlgn="base" hangingPunct="0">
              <a:spcBef>
                <a:spcPct val="0"/>
              </a:spcBef>
              <a:spcAft>
                <a:spcPct val="0"/>
              </a:spcAft>
            </a:pPr>
            <a:endParaRPr lang="en-US" altLang="en-US" sz="2800" dirty="0">
              <a:latin typeface="Arial" panose="020B0604020202020204" pitchFamily="34" charset="0"/>
            </a:endParaRPr>
          </a:p>
          <a:p>
            <a:pPr marL="457200" lvl="0" indent="-457200" eaLnBrk="0" fontAlgn="base" hangingPunct="0">
              <a:spcBef>
                <a:spcPct val="0"/>
              </a:spcBef>
              <a:spcAft>
                <a:spcPct val="0"/>
              </a:spcAft>
              <a:buFont typeface="Wingdings" panose="05000000000000000000" pitchFamily="2" charset="2"/>
              <a:buChar char="v"/>
            </a:pPr>
            <a:r>
              <a:rPr lang="en-US" altLang="en-US" sz="2800" b="1" dirty="0">
                <a:solidFill>
                  <a:schemeClr val="bg1"/>
                </a:solidFill>
                <a:latin typeface="Arial" panose="020B0604020202020204" pitchFamily="34" charset="0"/>
              </a:rPr>
              <a:t>Analyzes emotions in text data </a:t>
            </a:r>
          </a:p>
          <a:p>
            <a:pPr marL="457200" lvl="0" indent="-457200" eaLnBrk="0" fontAlgn="base" hangingPunct="0">
              <a:spcBef>
                <a:spcPct val="0"/>
              </a:spcBef>
              <a:spcAft>
                <a:spcPct val="0"/>
              </a:spcAft>
              <a:buFont typeface="Wingdings" panose="05000000000000000000" pitchFamily="2" charset="2"/>
              <a:buChar char="v"/>
            </a:pPr>
            <a:r>
              <a:rPr lang="en-US" altLang="en-US" sz="2800" b="1" dirty="0">
                <a:solidFill>
                  <a:schemeClr val="bg1"/>
                </a:solidFill>
                <a:latin typeface="Arial" panose="020B0604020202020204" pitchFamily="34" charset="0"/>
              </a:rPr>
              <a:t>Classifies sentiment (Positive, Negative, Neutral) </a:t>
            </a:r>
          </a:p>
          <a:p>
            <a:pPr marL="457200" lvl="0" indent="-457200" eaLnBrk="0" fontAlgn="base" hangingPunct="0">
              <a:spcBef>
                <a:spcPct val="0"/>
              </a:spcBef>
              <a:spcAft>
                <a:spcPct val="0"/>
              </a:spcAft>
              <a:buFont typeface="Wingdings" panose="05000000000000000000" pitchFamily="2" charset="2"/>
              <a:buChar char="v"/>
            </a:pPr>
            <a:r>
              <a:rPr lang="en-US" altLang="en-US" sz="2800" b="1" dirty="0">
                <a:solidFill>
                  <a:schemeClr val="bg1"/>
                </a:solidFill>
                <a:latin typeface="Arial" panose="020B0604020202020204" pitchFamily="34" charset="0"/>
              </a:rPr>
              <a:t>Widely used in social media </a:t>
            </a:r>
          </a:p>
          <a:p>
            <a:pPr marL="457200" lvl="0" indent="-457200" eaLnBrk="0" fontAlgn="base" hangingPunct="0">
              <a:spcBef>
                <a:spcPct val="0"/>
              </a:spcBef>
              <a:spcAft>
                <a:spcPct val="0"/>
              </a:spcAft>
              <a:buFont typeface="Wingdings" panose="05000000000000000000" pitchFamily="2" charset="2"/>
              <a:buChar char="v"/>
            </a:pPr>
            <a:r>
              <a:rPr lang="en-US" altLang="en-US" sz="2800" b="1" dirty="0">
                <a:solidFill>
                  <a:schemeClr val="bg1"/>
                </a:solidFill>
                <a:latin typeface="Arial" panose="020B0604020202020204" pitchFamily="34" charset="0"/>
              </a:rPr>
              <a:t>Helps businesses understand customers </a:t>
            </a:r>
          </a:p>
          <a:p>
            <a:pPr marL="457200" lvl="0" indent="-457200" eaLnBrk="0" fontAlgn="base" hangingPunct="0">
              <a:spcBef>
                <a:spcPct val="0"/>
              </a:spcBef>
              <a:spcAft>
                <a:spcPct val="0"/>
              </a:spcAft>
              <a:buFont typeface="Wingdings" panose="05000000000000000000" pitchFamily="2" charset="2"/>
              <a:buChar char="v"/>
            </a:pPr>
            <a:r>
              <a:rPr lang="en-US" altLang="en-US" sz="2800" b="1" dirty="0">
                <a:solidFill>
                  <a:schemeClr val="bg1"/>
                </a:solidFill>
                <a:latin typeface="Arial" panose="020B0604020202020204" pitchFamily="34" charset="0"/>
              </a:rPr>
              <a:t>Based on AI and NLP techniques </a:t>
            </a:r>
          </a:p>
          <a:p>
            <a:pPr marL="285750" lvl="0" indent="-285750" eaLnBrk="0" fontAlgn="base" hangingPunct="0">
              <a:spcBef>
                <a:spcPct val="0"/>
              </a:spcBef>
              <a:spcAft>
                <a:spcPct val="0"/>
              </a:spcAft>
              <a:buFont typeface="Wingdings" panose="05000000000000000000" pitchFamily="2" charset="2"/>
              <a:buChar char="v"/>
            </a:pPr>
            <a:endParaRPr lang="en-US" sz="2800" b="1" dirty="0">
              <a:solidFill>
                <a:schemeClr val="bg1"/>
              </a:solidFill>
            </a:endParaRPr>
          </a:p>
          <a:p>
            <a:pPr marL="285750" lvl="0" indent="-285750" eaLnBrk="0" fontAlgn="base" hangingPunct="0">
              <a:spcBef>
                <a:spcPct val="0"/>
              </a:spcBef>
              <a:spcAft>
                <a:spcPct val="0"/>
              </a:spcAft>
              <a:buFont typeface="Wingdings" panose="05000000000000000000" pitchFamily="2" charset="2"/>
              <a:buChar char="v"/>
            </a:pPr>
            <a:endParaRPr kumimoji="0" lang="en-US" altLang="en-US" sz="2800" b="1" i="0" u="none" strike="noStrike" cap="none" normalizeH="0" baseline="0" dirty="0">
              <a:ln>
                <a:noFill/>
              </a:ln>
              <a:solidFill>
                <a:schemeClr val="bg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sp>
        <p:nvSpPr>
          <p:cNvPr id="3" name="TextBox 3"/>
          <p:cNvSpPr txBox="1"/>
          <p:nvPr/>
        </p:nvSpPr>
        <p:spPr>
          <a:xfrm>
            <a:off x="2667000" y="1574373"/>
            <a:ext cx="10416280" cy="1535292"/>
          </a:xfrm>
          <a:prstGeom prst="rect">
            <a:avLst/>
          </a:prstGeom>
        </p:spPr>
        <p:txBody>
          <a:bodyPr lIns="0" tIns="0" rIns="0" bIns="0" rtlCol="0" anchor="t">
            <a:spAutoFit/>
          </a:bodyPr>
          <a:lstStyle/>
          <a:p>
            <a:pPr algn="ctr">
              <a:lnSpc>
                <a:spcPts val="12599"/>
              </a:lnSpc>
            </a:pPr>
            <a:r>
              <a:rPr lang="en-IN" sz="9600" b="1" dirty="0">
                <a:solidFill>
                  <a:schemeClr val="bg1"/>
                </a:solidFill>
              </a:rPr>
              <a:t>Objective</a:t>
            </a:r>
            <a:endParaRPr lang="en-US" sz="9000" b="1" dirty="0">
              <a:solidFill>
                <a:schemeClr val="bg1"/>
              </a:solidFill>
              <a:latin typeface="Open Sans Bold"/>
              <a:ea typeface="Open Sans Bold"/>
              <a:cs typeface="Open Sans Bold"/>
              <a:sym typeface="Open Sans Bold"/>
            </a:endParaRPr>
          </a:p>
        </p:txBody>
      </p:sp>
      <p:grpSp>
        <p:nvGrpSpPr>
          <p:cNvPr id="7" name="Group 7"/>
          <p:cNvGrpSpPr/>
          <p:nvPr/>
        </p:nvGrpSpPr>
        <p:grpSpPr>
          <a:xfrm rot="-5400000">
            <a:off x="1706867" y="-3826514"/>
            <a:ext cx="1425564" cy="8284865"/>
            <a:chOff x="0" y="0"/>
            <a:chExt cx="375457" cy="2182022"/>
          </a:xfrm>
        </p:grpSpPr>
        <p:sp>
          <p:nvSpPr>
            <p:cNvPr id="8" name="Freeform 8"/>
            <p:cNvSpPr/>
            <p:nvPr/>
          </p:nvSpPr>
          <p:spPr>
            <a:xfrm>
              <a:off x="0" y="0"/>
              <a:ext cx="375457" cy="2182022"/>
            </a:xfrm>
            <a:custGeom>
              <a:avLst/>
              <a:gdLst/>
              <a:ahLst/>
              <a:cxnLst/>
              <a:rect l="l" t="t" r="r" b="b"/>
              <a:pathLst>
                <a:path w="375457" h="2182022">
                  <a:moveTo>
                    <a:pt x="375457" y="0"/>
                  </a:moveTo>
                  <a:lnTo>
                    <a:pt x="375457" y="2067722"/>
                  </a:lnTo>
                  <a:lnTo>
                    <a:pt x="187729" y="2182022"/>
                  </a:lnTo>
                  <a:lnTo>
                    <a:pt x="0" y="2067722"/>
                  </a:lnTo>
                  <a:lnTo>
                    <a:pt x="0" y="0"/>
                  </a:lnTo>
                  <a:lnTo>
                    <a:pt x="375457" y="0"/>
                  </a:lnTo>
                  <a:close/>
                </a:path>
              </a:pathLst>
            </a:custGeom>
            <a:gradFill rotWithShape="1">
              <a:gsLst>
                <a:gs pos="0">
                  <a:srgbClr val="004AAD">
                    <a:alpha val="100000"/>
                  </a:srgbClr>
                </a:gs>
                <a:gs pos="100000">
                  <a:srgbClr val="CB6CE6">
                    <a:alpha val="100000"/>
                  </a:srgbClr>
                </a:gs>
              </a:gsLst>
              <a:path path="circle">
                <a:fillToRect r="100000" b="100000"/>
              </a:path>
              <a:tileRect l="-100000" t="-100000"/>
            </a:gradFill>
          </p:spPr>
        </p:sp>
        <p:sp>
          <p:nvSpPr>
            <p:cNvPr id="9" name="TextBox 9"/>
            <p:cNvSpPr txBox="1"/>
            <p:nvPr/>
          </p:nvSpPr>
          <p:spPr>
            <a:xfrm>
              <a:off x="0" y="-47625"/>
              <a:ext cx="375457" cy="2115347"/>
            </a:xfrm>
            <a:prstGeom prst="rect">
              <a:avLst/>
            </a:prstGeom>
          </p:spPr>
          <p:txBody>
            <a:bodyPr lIns="50800" tIns="50800" rIns="50800" bIns="50800" rtlCol="0" anchor="ctr"/>
            <a:lstStyle/>
            <a:p>
              <a:pPr algn="ctr">
                <a:lnSpc>
                  <a:spcPts val="3621"/>
                </a:lnSpc>
              </a:pPr>
              <a:endParaRPr/>
            </a:p>
          </p:txBody>
        </p:sp>
      </p:grpSp>
      <p:sp>
        <p:nvSpPr>
          <p:cNvPr id="10" name="AutoShape 10"/>
          <p:cNvSpPr/>
          <p:nvPr/>
        </p:nvSpPr>
        <p:spPr>
          <a:xfrm>
            <a:off x="12521448" y="9746748"/>
            <a:ext cx="6492240" cy="0"/>
          </a:xfrm>
          <a:prstGeom prst="line">
            <a:avLst/>
          </a:prstGeom>
          <a:ln w="38100" cap="flat">
            <a:solidFill>
              <a:srgbClr val="794CEC"/>
            </a:solidFill>
            <a:prstDash val="solid"/>
            <a:headEnd type="none" w="sm" len="sm"/>
            <a:tailEnd type="none" w="sm" len="sm"/>
          </a:ln>
        </p:spPr>
      </p:sp>
      <p:sp>
        <p:nvSpPr>
          <p:cNvPr id="11" name="Rectangle 1">
            <a:extLst>
              <a:ext uri="{FF2B5EF4-FFF2-40B4-BE49-F238E27FC236}">
                <a16:creationId xmlns:a16="http://schemas.microsoft.com/office/drawing/2014/main" id="{C12FABF7-5001-9F8A-A004-5247D1D963EB}"/>
              </a:ext>
            </a:extLst>
          </p:cNvPr>
          <p:cNvSpPr>
            <a:spLocks noChangeArrowheads="1"/>
          </p:cNvSpPr>
          <p:nvPr/>
        </p:nvSpPr>
        <p:spPr bwMode="auto">
          <a:xfrm>
            <a:off x="2355776" y="3791547"/>
            <a:ext cx="1357644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Font typeface="Wingdings" panose="05000000000000000000" pitchFamily="2" charset="2"/>
              <a:buChar char="v"/>
            </a:pPr>
            <a:r>
              <a:rPr lang="en-US" sz="3200" b="1" dirty="0">
                <a:solidFill>
                  <a:schemeClr val="bg1"/>
                </a:solidFill>
              </a:rPr>
              <a:t>The main objective of this project is to design and develop an intelligent sentiment analysis system that can automatically classify text into different sentiment categories. It also aims to provide deeper insights by detecting emotions and presenting results in a user-friendly format.</a:t>
            </a:r>
            <a:endParaRPr lang="en-US" altLang="en-US" sz="3200" b="1" dirty="0">
              <a:solidFill>
                <a:schemeClr val="bg1"/>
              </a:solidFill>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3200" b="1" i="0" u="none" strike="noStrike" cap="none" normalizeH="0" baseline="0" dirty="0">
              <a:ln>
                <a:noFill/>
              </a:ln>
              <a:solidFill>
                <a:schemeClr val="bg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3200" b="1" i="0" u="none" strike="noStrike" cap="none" normalizeH="0" baseline="0" dirty="0">
                <a:ln>
                  <a:noFill/>
                </a:ln>
                <a:solidFill>
                  <a:schemeClr val="bg1"/>
                </a:solidFill>
                <a:effectLst/>
                <a:latin typeface="Arial" panose="020B0604020202020204" pitchFamily="34" charset="0"/>
              </a:rPr>
              <a:t>To build an AI-based sentiment analysis system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3200" b="1" i="0" u="none" strike="noStrike" cap="none" normalizeH="0" baseline="0" dirty="0">
                <a:ln>
                  <a:noFill/>
                </a:ln>
                <a:solidFill>
                  <a:schemeClr val="bg1"/>
                </a:solidFill>
                <a:effectLst/>
                <a:latin typeface="Arial" panose="020B0604020202020204" pitchFamily="34" charset="0"/>
              </a:rPr>
              <a:t>To classify text into multiple sentiment categories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3200" b="1" i="0" u="none" strike="noStrike" cap="none" normalizeH="0" baseline="0" dirty="0">
                <a:ln>
                  <a:noFill/>
                </a:ln>
                <a:solidFill>
                  <a:schemeClr val="bg1"/>
                </a:solidFill>
                <a:effectLst/>
                <a:latin typeface="Arial" panose="020B0604020202020204" pitchFamily="34" charset="0"/>
              </a:rPr>
              <a:t>To detect emotions beyond basic sentiment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3200" b="1" i="0" u="none" strike="noStrike" cap="none" normalizeH="0" baseline="0" dirty="0">
                <a:ln>
                  <a:noFill/>
                </a:ln>
                <a:solidFill>
                  <a:schemeClr val="bg1"/>
                </a:solidFill>
                <a:effectLst/>
                <a:latin typeface="Arial" panose="020B0604020202020204" pitchFamily="34" charset="0"/>
              </a:rPr>
              <a:t>To provide visual insights and reports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8" name="Group 8"/>
          <p:cNvGrpSpPr/>
          <p:nvPr/>
        </p:nvGrpSpPr>
        <p:grpSpPr>
          <a:xfrm>
            <a:off x="2117522" y="2689498"/>
            <a:ext cx="14799315" cy="6461228"/>
            <a:chOff x="0" y="0"/>
            <a:chExt cx="1565187" cy="2357074"/>
          </a:xfrm>
        </p:grpSpPr>
        <p:sp>
          <p:nvSpPr>
            <p:cNvPr id="9" name="Freeform 9"/>
            <p:cNvSpPr/>
            <p:nvPr/>
          </p:nvSpPr>
          <p:spPr>
            <a:xfrm>
              <a:off x="0" y="0"/>
              <a:ext cx="1565188" cy="2357074"/>
            </a:xfrm>
            <a:custGeom>
              <a:avLst/>
              <a:gdLst/>
              <a:ahLst/>
              <a:cxnLst/>
              <a:rect l="l" t="t" r="r" b="b"/>
              <a:pathLst>
                <a:path w="1565188" h="2357074">
                  <a:moveTo>
                    <a:pt x="1440727" y="2357074"/>
                  </a:moveTo>
                  <a:lnTo>
                    <a:pt x="124460" y="2357074"/>
                  </a:lnTo>
                  <a:cubicBezTo>
                    <a:pt x="55880" y="2357074"/>
                    <a:pt x="0" y="2301194"/>
                    <a:pt x="0" y="2232614"/>
                  </a:cubicBezTo>
                  <a:lnTo>
                    <a:pt x="0" y="124460"/>
                  </a:lnTo>
                  <a:cubicBezTo>
                    <a:pt x="0" y="55880"/>
                    <a:pt x="55880" y="0"/>
                    <a:pt x="124460" y="0"/>
                  </a:cubicBezTo>
                  <a:lnTo>
                    <a:pt x="1440727" y="0"/>
                  </a:lnTo>
                  <a:cubicBezTo>
                    <a:pt x="1509307" y="0"/>
                    <a:pt x="1565188" y="55880"/>
                    <a:pt x="1565188" y="124460"/>
                  </a:cubicBezTo>
                  <a:lnTo>
                    <a:pt x="1565188" y="2232614"/>
                  </a:lnTo>
                  <a:cubicBezTo>
                    <a:pt x="1565188" y="2301194"/>
                    <a:pt x="1509307" y="2357074"/>
                    <a:pt x="1440727" y="2357074"/>
                  </a:cubicBezTo>
                  <a:close/>
                </a:path>
              </a:pathLst>
            </a:custGeom>
            <a:solidFill>
              <a:srgbClr val="585858">
                <a:alpha val="32941"/>
              </a:srgbClr>
            </a:solidFill>
          </p:spPr>
        </p:sp>
      </p:grpSp>
      <p:grpSp>
        <p:nvGrpSpPr>
          <p:cNvPr id="10" name="Group 10"/>
          <p:cNvGrpSpPr/>
          <p:nvPr/>
        </p:nvGrpSpPr>
        <p:grpSpPr>
          <a:xfrm>
            <a:off x="17841168" y="-340783"/>
            <a:ext cx="1425564" cy="6275709"/>
            <a:chOff x="0" y="0"/>
            <a:chExt cx="375457" cy="1652862"/>
          </a:xfrm>
        </p:grpSpPr>
        <p:sp>
          <p:nvSpPr>
            <p:cNvPr id="11" name="Freeform 11"/>
            <p:cNvSpPr/>
            <p:nvPr/>
          </p:nvSpPr>
          <p:spPr>
            <a:xfrm>
              <a:off x="0" y="0"/>
              <a:ext cx="375457" cy="1652862"/>
            </a:xfrm>
            <a:custGeom>
              <a:avLst/>
              <a:gdLst/>
              <a:ahLst/>
              <a:cxnLst/>
              <a:rect l="l" t="t" r="r" b="b"/>
              <a:pathLst>
                <a:path w="375457" h="1652862">
                  <a:moveTo>
                    <a:pt x="375457" y="0"/>
                  </a:moveTo>
                  <a:lnTo>
                    <a:pt x="375457" y="1538562"/>
                  </a:lnTo>
                  <a:lnTo>
                    <a:pt x="187729" y="1652862"/>
                  </a:lnTo>
                  <a:lnTo>
                    <a:pt x="0" y="1538562"/>
                  </a:lnTo>
                  <a:lnTo>
                    <a:pt x="0" y="0"/>
                  </a:lnTo>
                  <a:lnTo>
                    <a:pt x="375457" y="0"/>
                  </a:lnTo>
                  <a:close/>
                </a:path>
              </a:pathLst>
            </a:custGeom>
            <a:gradFill rotWithShape="1">
              <a:gsLst>
                <a:gs pos="0">
                  <a:srgbClr val="004AAD">
                    <a:alpha val="100000"/>
                  </a:srgbClr>
                </a:gs>
                <a:gs pos="100000">
                  <a:srgbClr val="CB6CE6">
                    <a:alpha val="100000"/>
                  </a:srgbClr>
                </a:gs>
              </a:gsLst>
              <a:path path="circle">
                <a:fillToRect r="100000" b="100000"/>
              </a:path>
              <a:tileRect l="-100000" t="-100000"/>
            </a:gradFill>
          </p:spPr>
        </p:sp>
        <p:sp>
          <p:nvSpPr>
            <p:cNvPr id="12" name="TextBox 12"/>
            <p:cNvSpPr txBox="1"/>
            <p:nvPr/>
          </p:nvSpPr>
          <p:spPr>
            <a:xfrm>
              <a:off x="0" y="-47625"/>
              <a:ext cx="375457" cy="1586187"/>
            </a:xfrm>
            <a:prstGeom prst="rect">
              <a:avLst/>
            </a:prstGeom>
          </p:spPr>
          <p:txBody>
            <a:bodyPr lIns="50800" tIns="50800" rIns="50800" bIns="50800" rtlCol="0" anchor="ctr"/>
            <a:lstStyle/>
            <a:p>
              <a:pPr algn="ctr">
                <a:lnSpc>
                  <a:spcPts val="3621"/>
                </a:lnSpc>
              </a:pPr>
              <a:endParaRPr/>
            </a:p>
          </p:txBody>
        </p:sp>
      </p:grpSp>
      <p:grpSp>
        <p:nvGrpSpPr>
          <p:cNvPr id="13" name="Group 13"/>
          <p:cNvGrpSpPr/>
          <p:nvPr/>
        </p:nvGrpSpPr>
        <p:grpSpPr>
          <a:xfrm rot="-10800000">
            <a:off x="-943503" y="7625825"/>
            <a:ext cx="1425564" cy="6275709"/>
            <a:chOff x="0" y="0"/>
            <a:chExt cx="375457" cy="1652862"/>
          </a:xfrm>
        </p:grpSpPr>
        <p:sp>
          <p:nvSpPr>
            <p:cNvPr id="14" name="Freeform 14"/>
            <p:cNvSpPr/>
            <p:nvPr/>
          </p:nvSpPr>
          <p:spPr>
            <a:xfrm>
              <a:off x="0" y="0"/>
              <a:ext cx="375457" cy="1652862"/>
            </a:xfrm>
            <a:custGeom>
              <a:avLst/>
              <a:gdLst/>
              <a:ahLst/>
              <a:cxnLst/>
              <a:rect l="l" t="t" r="r" b="b"/>
              <a:pathLst>
                <a:path w="375457" h="1652862">
                  <a:moveTo>
                    <a:pt x="375457" y="0"/>
                  </a:moveTo>
                  <a:lnTo>
                    <a:pt x="375457" y="1538562"/>
                  </a:lnTo>
                  <a:lnTo>
                    <a:pt x="187729" y="1652862"/>
                  </a:lnTo>
                  <a:lnTo>
                    <a:pt x="0" y="1538562"/>
                  </a:lnTo>
                  <a:lnTo>
                    <a:pt x="0" y="0"/>
                  </a:lnTo>
                  <a:lnTo>
                    <a:pt x="375457" y="0"/>
                  </a:lnTo>
                  <a:close/>
                </a:path>
              </a:pathLst>
            </a:custGeom>
            <a:gradFill rotWithShape="1">
              <a:gsLst>
                <a:gs pos="0">
                  <a:srgbClr val="004AAD">
                    <a:alpha val="100000"/>
                  </a:srgbClr>
                </a:gs>
                <a:gs pos="100000">
                  <a:srgbClr val="CB6CE6">
                    <a:alpha val="100000"/>
                  </a:srgbClr>
                </a:gs>
              </a:gsLst>
              <a:path path="circle">
                <a:fillToRect r="100000" b="100000"/>
              </a:path>
              <a:tileRect l="-100000" t="-100000"/>
            </a:gradFill>
          </p:spPr>
        </p:sp>
        <p:sp>
          <p:nvSpPr>
            <p:cNvPr id="15" name="TextBox 15"/>
            <p:cNvSpPr txBox="1"/>
            <p:nvPr/>
          </p:nvSpPr>
          <p:spPr>
            <a:xfrm>
              <a:off x="0" y="-47625"/>
              <a:ext cx="375457" cy="1586187"/>
            </a:xfrm>
            <a:prstGeom prst="rect">
              <a:avLst/>
            </a:prstGeom>
          </p:spPr>
          <p:txBody>
            <a:bodyPr lIns="50800" tIns="50800" rIns="50800" bIns="50800" rtlCol="0" anchor="ctr"/>
            <a:lstStyle/>
            <a:p>
              <a:pPr algn="ctr">
                <a:lnSpc>
                  <a:spcPts val="3621"/>
                </a:lnSpc>
              </a:pPr>
              <a:endParaRPr/>
            </a:p>
          </p:txBody>
        </p:sp>
      </p:grpSp>
      <p:sp>
        <p:nvSpPr>
          <p:cNvPr id="23" name="TextBox 23"/>
          <p:cNvSpPr txBox="1"/>
          <p:nvPr/>
        </p:nvSpPr>
        <p:spPr>
          <a:xfrm>
            <a:off x="3836630" y="577103"/>
            <a:ext cx="9592092" cy="1535292"/>
          </a:xfrm>
          <a:prstGeom prst="rect">
            <a:avLst/>
          </a:prstGeom>
        </p:spPr>
        <p:txBody>
          <a:bodyPr wrap="square" lIns="0" tIns="0" rIns="0" bIns="0" rtlCol="0" anchor="t">
            <a:spAutoFit/>
          </a:bodyPr>
          <a:lstStyle/>
          <a:p>
            <a:pPr algn="ctr">
              <a:lnSpc>
                <a:spcPts val="12599"/>
              </a:lnSpc>
            </a:pPr>
            <a:r>
              <a:rPr lang="en-IN" sz="9600" b="1" dirty="0">
                <a:solidFill>
                  <a:schemeClr val="bg1"/>
                </a:solidFill>
              </a:rPr>
              <a:t>Key Features</a:t>
            </a:r>
            <a:endParaRPr lang="en-US" sz="9000" b="1" dirty="0">
              <a:solidFill>
                <a:schemeClr val="bg1"/>
              </a:solidFill>
              <a:latin typeface="Open Sans Bold"/>
              <a:ea typeface="Open Sans Bold"/>
              <a:cs typeface="Open Sans Bold"/>
              <a:sym typeface="Open Sans Bold"/>
            </a:endParaRPr>
          </a:p>
        </p:txBody>
      </p:sp>
      <p:sp>
        <p:nvSpPr>
          <p:cNvPr id="34" name="Rectangle 2">
            <a:extLst>
              <a:ext uri="{FF2B5EF4-FFF2-40B4-BE49-F238E27FC236}">
                <a16:creationId xmlns:a16="http://schemas.microsoft.com/office/drawing/2014/main" id="{9B1CC621-0B80-2A4B-49BF-B711C5869C82}"/>
              </a:ext>
            </a:extLst>
          </p:cNvPr>
          <p:cNvSpPr>
            <a:spLocks noChangeArrowheads="1"/>
          </p:cNvSpPr>
          <p:nvPr/>
        </p:nvSpPr>
        <p:spPr bwMode="auto">
          <a:xfrm>
            <a:off x="3521837" y="3153531"/>
            <a:ext cx="9613722"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4000" b="0" i="0" u="none" strike="noStrike" cap="none" normalizeH="0" baseline="0" dirty="0">
              <a:ln>
                <a:noFill/>
              </a:ln>
              <a:solidFill>
                <a:schemeClr val="bg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4000" b="0" i="0" u="none" strike="noStrike" cap="none" normalizeH="0" baseline="0" dirty="0">
                <a:ln>
                  <a:noFill/>
                </a:ln>
                <a:solidFill>
                  <a:schemeClr val="bg1"/>
                </a:solidFill>
                <a:effectLst/>
                <a:latin typeface="Arial" panose="020B0604020202020204" pitchFamily="34" charset="0"/>
              </a:rPr>
              <a:t>Transformer-based sentiment analysis </a:t>
            </a:r>
          </a:p>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4000" b="0" i="0" u="none" strike="noStrike" cap="none" normalizeH="0" baseline="0" dirty="0">
                <a:ln>
                  <a:noFill/>
                </a:ln>
                <a:solidFill>
                  <a:schemeClr val="bg1"/>
                </a:solidFill>
                <a:effectLst/>
                <a:latin typeface="Arial" panose="020B0604020202020204" pitchFamily="34" charset="0"/>
              </a:rPr>
              <a:t>Emotion detection (7 emotions) </a:t>
            </a:r>
          </a:p>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4000" b="0" i="0" u="none" strike="noStrike" cap="none" normalizeH="0" baseline="0" dirty="0">
                <a:ln>
                  <a:noFill/>
                </a:ln>
                <a:solidFill>
                  <a:schemeClr val="bg1"/>
                </a:solidFill>
                <a:effectLst/>
                <a:latin typeface="Arial" panose="020B0604020202020204" pitchFamily="34" charset="0"/>
              </a:rPr>
              <a:t>Multi-language support </a:t>
            </a:r>
          </a:p>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4000" b="0" i="0" u="none" strike="noStrike" cap="none" normalizeH="0" baseline="0" dirty="0">
                <a:ln>
                  <a:noFill/>
                </a:ln>
                <a:solidFill>
                  <a:schemeClr val="bg1"/>
                </a:solidFill>
                <a:effectLst/>
                <a:latin typeface="Arial" panose="020B0604020202020204" pitchFamily="34" charset="0"/>
              </a:rPr>
              <a:t>Keyword highlighting (explainability) </a:t>
            </a:r>
          </a:p>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4000" b="0" i="0" u="none" strike="noStrike" cap="none" normalizeH="0" baseline="0" dirty="0">
                <a:ln>
                  <a:noFill/>
                </a:ln>
                <a:solidFill>
                  <a:schemeClr val="bg1"/>
                </a:solidFill>
                <a:effectLst/>
                <a:latin typeface="Arial" panose="020B0604020202020204" pitchFamily="34" charset="0"/>
              </a:rPr>
              <a:t>Batch processing of text files </a:t>
            </a:r>
          </a:p>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4000" b="0" i="0" u="none" strike="noStrike" cap="none" normalizeH="0" baseline="0" dirty="0">
                <a:ln>
                  <a:noFill/>
                </a:ln>
                <a:solidFill>
                  <a:schemeClr val="bg1"/>
                </a:solidFill>
                <a:effectLst/>
                <a:latin typeface="Arial" panose="020B0604020202020204" pitchFamily="34" charset="0"/>
              </a:rPr>
              <a:t>PDF report generation </a:t>
            </a:r>
          </a:p>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4000" b="0" i="0" u="none" strike="noStrike" cap="none" normalizeH="0" baseline="0" dirty="0">
                <a:ln>
                  <a:noFill/>
                </a:ln>
                <a:solidFill>
                  <a:schemeClr val="bg1"/>
                </a:solidFill>
                <a:effectLst/>
                <a:latin typeface="Arial" panose="020B0604020202020204" pitchFamily="34" charset="0"/>
              </a:rPr>
              <a:t>Interactive dashboards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sp>
        <p:nvSpPr>
          <p:cNvPr id="6" name="TextBox 6"/>
          <p:cNvSpPr txBox="1"/>
          <p:nvPr/>
        </p:nvSpPr>
        <p:spPr>
          <a:xfrm>
            <a:off x="3536313" y="866775"/>
            <a:ext cx="11215375" cy="3125664"/>
          </a:xfrm>
          <a:prstGeom prst="rect">
            <a:avLst/>
          </a:prstGeom>
        </p:spPr>
        <p:txBody>
          <a:bodyPr lIns="0" tIns="0" rIns="0" bIns="0" rtlCol="0" anchor="t">
            <a:spAutoFit/>
          </a:bodyPr>
          <a:lstStyle/>
          <a:p>
            <a:pPr algn="ctr">
              <a:lnSpc>
                <a:spcPts val="12599"/>
              </a:lnSpc>
            </a:pPr>
            <a:r>
              <a:rPr lang="en-US" sz="9600" b="1" dirty="0">
                <a:solidFill>
                  <a:schemeClr val="bg1"/>
                </a:solidFill>
              </a:rPr>
              <a:t>Overview of System</a:t>
            </a:r>
          </a:p>
          <a:p>
            <a:pPr algn="ctr">
              <a:lnSpc>
                <a:spcPts val="12599"/>
              </a:lnSpc>
            </a:pPr>
            <a:endParaRPr lang="en-US" sz="9000" b="1" dirty="0">
              <a:solidFill>
                <a:srgbClr val="FFFFFF"/>
              </a:solidFill>
              <a:latin typeface="Open Sans Bold"/>
              <a:ea typeface="Open Sans Bold"/>
              <a:cs typeface="Open Sans Bold"/>
              <a:sym typeface="Open Sans Bold"/>
            </a:endParaRPr>
          </a:p>
        </p:txBody>
      </p:sp>
      <p:grpSp>
        <p:nvGrpSpPr>
          <p:cNvPr id="14" name="Group 14"/>
          <p:cNvGrpSpPr/>
          <p:nvPr/>
        </p:nvGrpSpPr>
        <p:grpSpPr>
          <a:xfrm rot="5400000">
            <a:off x="17704372" y="-3315365"/>
            <a:ext cx="1167257" cy="6275709"/>
            <a:chOff x="0" y="0"/>
            <a:chExt cx="307426" cy="1652862"/>
          </a:xfrm>
        </p:grpSpPr>
        <p:sp>
          <p:nvSpPr>
            <p:cNvPr id="15" name="Freeform 15"/>
            <p:cNvSpPr/>
            <p:nvPr/>
          </p:nvSpPr>
          <p:spPr>
            <a:xfrm>
              <a:off x="0" y="0"/>
              <a:ext cx="307426" cy="1652862"/>
            </a:xfrm>
            <a:custGeom>
              <a:avLst/>
              <a:gdLst/>
              <a:ahLst/>
              <a:cxnLst/>
              <a:rect l="l" t="t" r="r" b="b"/>
              <a:pathLst>
                <a:path w="307426" h="1652862">
                  <a:moveTo>
                    <a:pt x="307426" y="0"/>
                  </a:moveTo>
                  <a:lnTo>
                    <a:pt x="307426" y="1538562"/>
                  </a:lnTo>
                  <a:lnTo>
                    <a:pt x="153713" y="1652862"/>
                  </a:lnTo>
                  <a:lnTo>
                    <a:pt x="0" y="1538562"/>
                  </a:lnTo>
                  <a:lnTo>
                    <a:pt x="0" y="0"/>
                  </a:lnTo>
                  <a:lnTo>
                    <a:pt x="307426" y="0"/>
                  </a:lnTo>
                  <a:close/>
                </a:path>
              </a:pathLst>
            </a:custGeom>
            <a:gradFill rotWithShape="1">
              <a:gsLst>
                <a:gs pos="0">
                  <a:srgbClr val="004AAD">
                    <a:alpha val="100000"/>
                  </a:srgbClr>
                </a:gs>
                <a:gs pos="100000">
                  <a:srgbClr val="CB6CE6">
                    <a:alpha val="100000"/>
                  </a:srgbClr>
                </a:gs>
              </a:gsLst>
              <a:lin ang="2700000"/>
            </a:gradFill>
          </p:spPr>
        </p:sp>
        <p:sp>
          <p:nvSpPr>
            <p:cNvPr id="16" name="TextBox 16"/>
            <p:cNvSpPr txBox="1"/>
            <p:nvPr/>
          </p:nvSpPr>
          <p:spPr>
            <a:xfrm>
              <a:off x="0" y="-47625"/>
              <a:ext cx="307426" cy="1586187"/>
            </a:xfrm>
            <a:prstGeom prst="rect">
              <a:avLst/>
            </a:prstGeom>
          </p:spPr>
          <p:txBody>
            <a:bodyPr lIns="50800" tIns="50800" rIns="50800" bIns="50800" rtlCol="0" anchor="ctr"/>
            <a:lstStyle/>
            <a:p>
              <a:pPr algn="ctr">
                <a:lnSpc>
                  <a:spcPts val="3621"/>
                </a:lnSpc>
              </a:pPr>
              <a:endParaRPr/>
            </a:p>
          </p:txBody>
        </p:sp>
      </p:grpSp>
      <p:sp>
        <p:nvSpPr>
          <p:cNvPr id="21" name="TextBox 20">
            <a:extLst>
              <a:ext uri="{FF2B5EF4-FFF2-40B4-BE49-F238E27FC236}">
                <a16:creationId xmlns:a16="http://schemas.microsoft.com/office/drawing/2014/main" id="{E85CDBAE-C4B4-B652-7456-E64A68E0CF5A}"/>
              </a:ext>
            </a:extLst>
          </p:cNvPr>
          <p:cNvSpPr txBox="1"/>
          <p:nvPr/>
        </p:nvSpPr>
        <p:spPr>
          <a:xfrm>
            <a:off x="1524000" y="4032404"/>
            <a:ext cx="15621000" cy="5016758"/>
          </a:xfrm>
          <a:prstGeom prst="rect">
            <a:avLst/>
          </a:prstGeom>
          <a:noFill/>
        </p:spPr>
        <p:txBody>
          <a:bodyPr wrap="square" rtlCol="0">
            <a:spAutoFit/>
          </a:bodyPr>
          <a:lstStyle/>
          <a:p>
            <a:pPr marL="457200" indent="-457200">
              <a:buFont typeface="Wingdings" panose="05000000000000000000" pitchFamily="2" charset="2"/>
              <a:buChar char="v"/>
            </a:pPr>
            <a:r>
              <a:rPr lang="en-US" sz="3200" b="1" dirty="0">
                <a:solidFill>
                  <a:schemeClr val="bg1"/>
                </a:solidFill>
              </a:rPr>
              <a:t>The system takes user input in the form of text and processes it using advanced machine learning models. It analyzes the content, detects sentiment and emotions, and displays results through interactive visualizations and reports.</a:t>
            </a:r>
          </a:p>
          <a:p>
            <a:endParaRPr lang="en-US" sz="3200" b="1" dirty="0">
              <a:solidFill>
                <a:schemeClr val="bg1"/>
              </a:solidFill>
            </a:endParaRPr>
          </a:p>
          <a:p>
            <a:pPr marL="457200" indent="-457200">
              <a:buFont typeface="Wingdings" panose="05000000000000000000" pitchFamily="2" charset="2"/>
              <a:buChar char="v"/>
            </a:pPr>
            <a:r>
              <a:rPr lang="en-US" sz="3200" b="1" dirty="0">
                <a:solidFill>
                  <a:schemeClr val="bg1"/>
                </a:solidFill>
              </a:rPr>
              <a:t>Accepts text input from users </a:t>
            </a:r>
          </a:p>
          <a:p>
            <a:pPr marL="457200" indent="-457200">
              <a:buFont typeface="Wingdings" panose="05000000000000000000" pitchFamily="2" charset="2"/>
              <a:buChar char="v"/>
            </a:pPr>
            <a:r>
              <a:rPr lang="en-US" sz="3200" b="1" dirty="0">
                <a:solidFill>
                  <a:schemeClr val="bg1"/>
                </a:solidFill>
              </a:rPr>
              <a:t>Processes using AI models </a:t>
            </a:r>
          </a:p>
          <a:p>
            <a:pPr marL="457200" indent="-457200">
              <a:buFont typeface="Wingdings" panose="05000000000000000000" pitchFamily="2" charset="2"/>
              <a:buChar char="v"/>
            </a:pPr>
            <a:r>
              <a:rPr lang="en-US" sz="3200" b="1" dirty="0">
                <a:solidFill>
                  <a:schemeClr val="bg1"/>
                </a:solidFill>
              </a:rPr>
              <a:t>Detects sentiment and emotions </a:t>
            </a:r>
          </a:p>
          <a:p>
            <a:pPr marL="457200" indent="-457200">
              <a:buFont typeface="Wingdings" panose="05000000000000000000" pitchFamily="2" charset="2"/>
              <a:buChar char="v"/>
            </a:pPr>
            <a:r>
              <a:rPr lang="en-US" sz="3200" b="1" dirty="0">
                <a:solidFill>
                  <a:schemeClr val="bg1"/>
                </a:solidFill>
              </a:rPr>
              <a:t>Generates visual insights </a:t>
            </a:r>
          </a:p>
          <a:p>
            <a:pPr marL="457200" indent="-457200">
              <a:buFont typeface="Wingdings" panose="05000000000000000000" pitchFamily="2" charset="2"/>
              <a:buChar char="v"/>
            </a:pPr>
            <a:r>
              <a:rPr lang="en-US" sz="3200" b="1" dirty="0">
                <a:solidFill>
                  <a:schemeClr val="bg1"/>
                </a:solidFill>
              </a:rPr>
              <a:t>Provides quick results</a:t>
            </a:r>
          </a:p>
          <a:p>
            <a:endParaRPr lang="en-IN" sz="3200" b="1"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sp>
        <p:nvSpPr>
          <p:cNvPr id="7" name="TextBox 7"/>
          <p:cNvSpPr txBox="1"/>
          <p:nvPr/>
        </p:nvSpPr>
        <p:spPr>
          <a:xfrm>
            <a:off x="1028700" y="1146363"/>
            <a:ext cx="12382500" cy="1535292"/>
          </a:xfrm>
          <a:prstGeom prst="rect">
            <a:avLst/>
          </a:prstGeom>
        </p:spPr>
        <p:txBody>
          <a:bodyPr wrap="square" lIns="0" tIns="0" rIns="0" bIns="0" rtlCol="0" anchor="t">
            <a:spAutoFit/>
          </a:bodyPr>
          <a:lstStyle/>
          <a:p>
            <a:pPr>
              <a:lnSpc>
                <a:spcPts val="12599"/>
              </a:lnSpc>
            </a:pPr>
            <a:r>
              <a:rPr lang="en-IN" sz="9600" b="1" dirty="0">
                <a:solidFill>
                  <a:schemeClr val="bg1"/>
                </a:solidFill>
              </a:rPr>
              <a:t>Technologies Used</a:t>
            </a:r>
            <a:endParaRPr lang="en-US" sz="9000" b="1" dirty="0">
              <a:solidFill>
                <a:schemeClr val="bg1"/>
              </a:solidFill>
              <a:latin typeface="Open Sans Bold"/>
              <a:ea typeface="Open Sans Bold"/>
              <a:cs typeface="Open Sans Bold"/>
              <a:sym typeface="Open Sans Bold"/>
            </a:endParaRPr>
          </a:p>
        </p:txBody>
      </p:sp>
      <p:grpSp>
        <p:nvGrpSpPr>
          <p:cNvPr id="11" name="Group 11"/>
          <p:cNvGrpSpPr/>
          <p:nvPr/>
        </p:nvGrpSpPr>
        <p:grpSpPr>
          <a:xfrm>
            <a:off x="1385789" y="3422149"/>
            <a:ext cx="15773400" cy="5789373"/>
            <a:chOff x="0" y="0"/>
            <a:chExt cx="968097" cy="1146401"/>
          </a:xfrm>
        </p:grpSpPr>
        <p:sp>
          <p:nvSpPr>
            <p:cNvPr id="12" name="Freeform 12"/>
            <p:cNvSpPr/>
            <p:nvPr/>
          </p:nvSpPr>
          <p:spPr>
            <a:xfrm>
              <a:off x="0" y="0"/>
              <a:ext cx="968097" cy="1146401"/>
            </a:xfrm>
            <a:custGeom>
              <a:avLst/>
              <a:gdLst/>
              <a:ahLst/>
              <a:cxnLst/>
              <a:rect l="l" t="t" r="r" b="b"/>
              <a:pathLst>
                <a:path w="968097" h="1146401">
                  <a:moveTo>
                    <a:pt x="0" y="0"/>
                  </a:moveTo>
                  <a:lnTo>
                    <a:pt x="968097" y="0"/>
                  </a:lnTo>
                  <a:lnTo>
                    <a:pt x="968097" y="1146401"/>
                  </a:lnTo>
                  <a:lnTo>
                    <a:pt x="0" y="1146401"/>
                  </a:lnTo>
                  <a:close/>
                </a:path>
              </a:pathLst>
            </a:custGeom>
            <a:solidFill>
              <a:srgbClr val="585858">
                <a:alpha val="32941"/>
              </a:srgbClr>
            </a:solidFill>
          </p:spPr>
        </p:sp>
        <p:sp>
          <p:nvSpPr>
            <p:cNvPr id="13" name="TextBox 13"/>
            <p:cNvSpPr txBox="1"/>
            <p:nvPr/>
          </p:nvSpPr>
          <p:spPr>
            <a:xfrm>
              <a:off x="0" y="-47625"/>
              <a:ext cx="968097" cy="1194026"/>
            </a:xfrm>
            <a:prstGeom prst="rect">
              <a:avLst/>
            </a:prstGeom>
          </p:spPr>
          <p:txBody>
            <a:bodyPr lIns="50800" tIns="50800" rIns="50800" bIns="50800" rtlCol="0" anchor="ctr"/>
            <a:lstStyle/>
            <a:p>
              <a:pPr algn="ctr">
                <a:lnSpc>
                  <a:spcPts val="3621"/>
                </a:lnSpc>
              </a:pPr>
              <a:endParaRPr/>
            </a:p>
          </p:txBody>
        </p:sp>
      </p:grpSp>
      <p:grpSp>
        <p:nvGrpSpPr>
          <p:cNvPr id="18" name="Group 18"/>
          <p:cNvGrpSpPr/>
          <p:nvPr/>
        </p:nvGrpSpPr>
        <p:grpSpPr>
          <a:xfrm rot="-5400000">
            <a:off x="1648195" y="6404348"/>
            <a:ext cx="1425564" cy="8284865"/>
            <a:chOff x="0" y="0"/>
            <a:chExt cx="375457" cy="2182022"/>
          </a:xfrm>
        </p:grpSpPr>
        <p:sp>
          <p:nvSpPr>
            <p:cNvPr id="19" name="Freeform 19"/>
            <p:cNvSpPr/>
            <p:nvPr/>
          </p:nvSpPr>
          <p:spPr>
            <a:xfrm>
              <a:off x="0" y="0"/>
              <a:ext cx="375457" cy="2182022"/>
            </a:xfrm>
            <a:custGeom>
              <a:avLst/>
              <a:gdLst/>
              <a:ahLst/>
              <a:cxnLst/>
              <a:rect l="l" t="t" r="r" b="b"/>
              <a:pathLst>
                <a:path w="375457" h="2182022">
                  <a:moveTo>
                    <a:pt x="375457" y="0"/>
                  </a:moveTo>
                  <a:lnTo>
                    <a:pt x="375457" y="2067722"/>
                  </a:lnTo>
                  <a:lnTo>
                    <a:pt x="187729" y="2182022"/>
                  </a:lnTo>
                  <a:lnTo>
                    <a:pt x="0" y="2067722"/>
                  </a:lnTo>
                  <a:lnTo>
                    <a:pt x="0" y="0"/>
                  </a:lnTo>
                  <a:lnTo>
                    <a:pt x="375457" y="0"/>
                  </a:lnTo>
                  <a:close/>
                </a:path>
              </a:pathLst>
            </a:custGeom>
            <a:gradFill rotWithShape="1">
              <a:gsLst>
                <a:gs pos="0">
                  <a:srgbClr val="004AAD">
                    <a:alpha val="100000"/>
                  </a:srgbClr>
                </a:gs>
                <a:gs pos="100000">
                  <a:srgbClr val="CB6CE6">
                    <a:alpha val="100000"/>
                  </a:srgbClr>
                </a:gs>
              </a:gsLst>
              <a:path path="circle">
                <a:fillToRect r="100000" b="100000"/>
              </a:path>
              <a:tileRect l="-100000" t="-100000"/>
            </a:gradFill>
          </p:spPr>
        </p:sp>
        <p:sp>
          <p:nvSpPr>
            <p:cNvPr id="20" name="TextBox 20"/>
            <p:cNvSpPr txBox="1"/>
            <p:nvPr/>
          </p:nvSpPr>
          <p:spPr>
            <a:xfrm>
              <a:off x="0" y="-47625"/>
              <a:ext cx="375457" cy="2115347"/>
            </a:xfrm>
            <a:prstGeom prst="rect">
              <a:avLst/>
            </a:prstGeom>
          </p:spPr>
          <p:txBody>
            <a:bodyPr lIns="50800" tIns="50800" rIns="50800" bIns="50800" rtlCol="0" anchor="ctr"/>
            <a:lstStyle/>
            <a:p>
              <a:pPr algn="ctr">
                <a:lnSpc>
                  <a:spcPts val="3621"/>
                </a:lnSpc>
              </a:pPr>
              <a:endParaRPr/>
            </a:p>
          </p:txBody>
        </p:sp>
      </p:grpSp>
      <p:sp>
        <p:nvSpPr>
          <p:cNvPr id="23" name="AutoShape 23"/>
          <p:cNvSpPr/>
          <p:nvPr/>
        </p:nvSpPr>
        <p:spPr>
          <a:xfrm>
            <a:off x="12521448" y="9746748"/>
            <a:ext cx="6492240" cy="0"/>
          </a:xfrm>
          <a:prstGeom prst="line">
            <a:avLst/>
          </a:prstGeom>
          <a:ln w="38100" cap="flat">
            <a:solidFill>
              <a:srgbClr val="794CEC"/>
            </a:solidFill>
            <a:prstDash val="solid"/>
            <a:headEnd type="none" w="sm" len="sm"/>
            <a:tailEnd type="none" w="sm" len="sm"/>
          </a:ln>
        </p:spPr>
      </p:sp>
      <p:sp>
        <p:nvSpPr>
          <p:cNvPr id="24" name="AutoShape 24"/>
          <p:cNvSpPr/>
          <p:nvPr/>
        </p:nvSpPr>
        <p:spPr>
          <a:xfrm>
            <a:off x="-3238336" y="603768"/>
            <a:ext cx="6492240" cy="0"/>
          </a:xfrm>
          <a:prstGeom prst="line">
            <a:avLst/>
          </a:prstGeom>
          <a:ln w="38100" cap="flat">
            <a:solidFill>
              <a:srgbClr val="794CEC"/>
            </a:solidFill>
            <a:prstDash val="solid"/>
            <a:headEnd type="none" w="sm" len="sm"/>
            <a:tailEnd type="none" w="sm" len="sm"/>
          </a:ln>
        </p:spPr>
      </p:sp>
      <p:sp>
        <p:nvSpPr>
          <p:cNvPr id="25" name="TextBox 24">
            <a:extLst>
              <a:ext uri="{FF2B5EF4-FFF2-40B4-BE49-F238E27FC236}">
                <a16:creationId xmlns:a16="http://schemas.microsoft.com/office/drawing/2014/main" id="{B24BD2C7-8575-2D78-49DC-F3C71FD3C0C3}"/>
              </a:ext>
            </a:extLst>
          </p:cNvPr>
          <p:cNvSpPr txBox="1"/>
          <p:nvPr/>
        </p:nvSpPr>
        <p:spPr>
          <a:xfrm>
            <a:off x="1690589" y="3631437"/>
            <a:ext cx="15468600" cy="5016758"/>
          </a:xfrm>
          <a:prstGeom prst="rect">
            <a:avLst/>
          </a:prstGeom>
          <a:noFill/>
        </p:spPr>
        <p:txBody>
          <a:bodyPr wrap="square" rtlCol="0">
            <a:spAutoFit/>
          </a:bodyPr>
          <a:lstStyle/>
          <a:p>
            <a:pPr marL="457200" indent="-457200">
              <a:buFont typeface="Wingdings" panose="05000000000000000000" pitchFamily="2" charset="2"/>
              <a:buChar char="v"/>
            </a:pPr>
            <a:r>
              <a:rPr lang="en-US" sz="3200" dirty="0">
                <a:solidFill>
                  <a:schemeClr val="bg1"/>
                </a:solidFill>
              </a:rPr>
              <a:t>This project is built using modern technologies that support machine learning and web development. Python is used as the core programming language along with various libraries for data processing, visualization, and model implementation.</a:t>
            </a:r>
          </a:p>
          <a:p>
            <a:pPr marL="457200" indent="-457200">
              <a:buFont typeface="Wingdings" panose="05000000000000000000" pitchFamily="2" charset="2"/>
              <a:buChar char="v"/>
            </a:pPr>
            <a:endParaRPr lang="en-US" sz="3200" dirty="0">
              <a:solidFill>
                <a:schemeClr val="bg1"/>
              </a:solidFill>
            </a:endParaRPr>
          </a:p>
          <a:p>
            <a:pPr marL="457200" indent="-457200">
              <a:buFont typeface="Wingdings" panose="05000000000000000000" pitchFamily="2" charset="2"/>
              <a:buChar char="v"/>
            </a:pPr>
            <a:r>
              <a:rPr lang="en-US" sz="3200" dirty="0">
                <a:solidFill>
                  <a:schemeClr val="bg1"/>
                </a:solidFill>
              </a:rPr>
              <a:t>Python programming language </a:t>
            </a:r>
          </a:p>
          <a:p>
            <a:pPr marL="457200" indent="-457200">
              <a:buFont typeface="Wingdings" panose="05000000000000000000" pitchFamily="2" charset="2"/>
              <a:buChar char="v"/>
            </a:pPr>
            <a:r>
              <a:rPr lang="en-US" sz="3200" dirty="0" err="1">
                <a:solidFill>
                  <a:schemeClr val="bg1"/>
                </a:solidFill>
              </a:rPr>
              <a:t>Streamlit</a:t>
            </a:r>
            <a:r>
              <a:rPr lang="en-US" sz="3200" dirty="0">
                <a:solidFill>
                  <a:schemeClr val="bg1"/>
                </a:solidFill>
              </a:rPr>
              <a:t> for web interface </a:t>
            </a:r>
          </a:p>
          <a:p>
            <a:pPr marL="457200" indent="-457200">
              <a:buFont typeface="Wingdings" panose="05000000000000000000" pitchFamily="2" charset="2"/>
              <a:buChar char="v"/>
            </a:pPr>
            <a:r>
              <a:rPr lang="en-US" sz="3200" dirty="0">
                <a:solidFill>
                  <a:schemeClr val="bg1"/>
                </a:solidFill>
              </a:rPr>
              <a:t>Transformers library </a:t>
            </a:r>
          </a:p>
          <a:p>
            <a:pPr marL="457200" indent="-457200">
              <a:buFont typeface="Wingdings" panose="05000000000000000000" pitchFamily="2" charset="2"/>
              <a:buChar char="v"/>
            </a:pPr>
            <a:r>
              <a:rPr lang="en-US" sz="3200" dirty="0">
                <a:solidFill>
                  <a:schemeClr val="bg1"/>
                </a:solidFill>
              </a:rPr>
              <a:t>Plotly for visualization </a:t>
            </a:r>
          </a:p>
          <a:p>
            <a:pPr marL="457200" indent="-457200">
              <a:buFont typeface="Wingdings" panose="05000000000000000000" pitchFamily="2" charset="2"/>
              <a:buChar char="v"/>
            </a:pPr>
            <a:r>
              <a:rPr lang="en-US" sz="3200" dirty="0">
                <a:solidFill>
                  <a:schemeClr val="bg1"/>
                </a:solidFill>
              </a:rPr>
              <a:t>Translation tools for language support</a:t>
            </a:r>
          </a:p>
          <a:p>
            <a:pPr marL="457200" indent="-457200">
              <a:buFont typeface="Wingdings" panose="05000000000000000000" pitchFamily="2" charset="2"/>
              <a:buChar char="v"/>
            </a:pPr>
            <a:endParaRPr lang="en-IN" sz="32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a:off x="12838196" y="176353"/>
            <a:ext cx="11337433" cy="1133743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gradFill>
                <a:gsLst>
                  <a:gs pos="0">
                    <a:srgbClr val="004AAD">
                      <a:alpha val="25000"/>
                    </a:srgbClr>
                  </a:gs>
                  <a:gs pos="100000">
                    <a:srgbClr val="CB6CE6">
                      <a:alpha val="25000"/>
                    </a:srgbClr>
                  </a:gs>
                </a:gsLst>
                <a:path path="circle">
                  <a:fillToRect r="100000" b="100000"/>
                </a:path>
                <a:tileRect l="-100000" t="-100000"/>
              </a:gradFill>
              <a:prstDash val="solid"/>
              <a:miter/>
            </a:ln>
          </p:spPr>
        </p:sp>
        <p:sp>
          <p:nvSpPr>
            <p:cNvPr id="5" name="TextBox 5"/>
            <p:cNvSpPr txBox="1"/>
            <p:nvPr/>
          </p:nvSpPr>
          <p:spPr>
            <a:xfrm>
              <a:off x="76200" y="28575"/>
              <a:ext cx="660400" cy="708025"/>
            </a:xfrm>
            <a:prstGeom prst="rect">
              <a:avLst/>
            </a:prstGeom>
          </p:spPr>
          <p:txBody>
            <a:bodyPr lIns="50800" tIns="50800" rIns="50800" bIns="50800" rtlCol="0" anchor="ctr"/>
            <a:lstStyle/>
            <a:p>
              <a:pPr algn="ctr">
                <a:lnSpc>
                  <a:spcPts val="3621"/>
                </a:lnSpc>
              </a:pPr>
              <a:endParaRPr/>
            </a:p>
          </p:txBody>
        </p:sp>
      </p:grpSp>
      <p:sp>
        <p:nvSpPr>
          <p:cNvPr id="6" name="TextBox 6"/>
          <p:cNvSpPr txBox="1"/>
          <p:nvPr/>
        </p:nvSpPr>
        <p:spPr>
          <a:xfrm>
            <a:off x="2915973" y="782543"/>
            <a:ext cx="11337432" cy="1920013"/>
          </a:xfrm>
          <a:prstGeom prst="rect">
            <a:avLst/>
          </a:prstGeom>
        </p:spPr>
        <p:txBody>
          <a:bodyPr wrap="square" lIns="0" tIns="0" rIns="0" bIns="0" rtlCol="0" anchor="t">
            <a:spAutoFit/>
          </a:bodyPr>
          <a:lstStyle/>
          <a:p>
            <a:pPr>
              <a:lnSpc>
                <a:spcPts val="16554"/>
              </a:lnSpc>
            </a:pPr>
            <a:r>
              <a:rPr lang="en-IN" sz="9600" b="1" dirty="0">
                <a:solidFill>
                  <a:schemeClr val="bg1"/>
                </a:solidFill>
              </a:rPr>
              <a:t>System Architecture</a:t>
            </a:r>
            <a:endParaRPr lang="en-US" sz="11824" b="1" dirty="0">
              <a:solidFill>
                <a:schemeClr val="bg1"/>
              </a:solidFill>
              <a:latin typeface="Open Sans Bold"/>
              <a:ea typeface="Open Sans Bold"/>
              <a:cs typeface="Open Sans Bold"/>
              <a:sym typeface="Open Sans Bold"/>
            </a:endParaRPr>
          </a:p>
        </p:txBody>
      </p:sp>
      <p:sp>
        <p:nvSpPr>
          <p:cNvPr id="19" name="TextBox 19"/>
          <p:cNvSpPr txBox="1"/>
          <p:nvPr/>
        </p:nvSpPr>
        <p:spPr>
          <a:xfrm>
            <a:off x="11741484" y="2194490"/>
            <a:ext cx="4329801" cy="448652"/>
          </a:xfrm>
          <a:prstGeom prst="rect">
            <a:avLst/>
          </a:prstGeom>
        </p:spPr>
        <p:txBody>
          <a:bodyPr lIns="0" tIns="0" rIns="0" bIns="0" rtlCol="0" anchor="t">
            <a:spAutoFit/>
          </a:bodyPr>
          <a:lstStyle/>
          <a:p>
            <a:pPr algn="ctr">
              <a:lnSpc>
                <a:spcPts val="3621"/>
              </a:lnSpc>
            </a:pPr>
            <a:endParaRPr lang="en-US" sz="2586" dirty="0">
              <a:solidFill>
                <a:srgbClr val="FFFFFF"/>
              </a:solidFill>
              <a:latin typeface="Garet"/>
              <a:ea typeface="Garet"/>
              <a:cs typeface="Garet"/>
              <a:sym typeface="Garet"/>
            </a:endParaRPr>
          </a:p>
        </p:txBody>
      </p:sp>
      <p:sp>
        <p:nvSpPr>
          <p:cNvPr id="21" name="AutoShape 21"/>
          <p:cNvSpPr/>
          <p:nvPr/>
        </p:nvSpPr>
        <p:spPr>
          <a:xfrm>
            <a:off x="-586668" y="9804967"/>
            <a:ext cx="6492240" cy="0"/>
          </a:xfrm>
          <a:prstGeom prst="line">
            <a:avLst/>
          </a:prstGeom>
          <a:ln w="38100" cap="flat">
            <a:solidFill>
              <a:srgbClr val="794CEC"/>
            </a:solidFill>
            <a:prstDash val="solid"/>
            <a:headEnd type="none" w="sm" len="sm"/>
            <a:tailEnd type="none" w="sm" len="sm"/>
          </a:ln>
        </p:spPr>
      </p:sp>
      <p:grpSp>
        <p:nvGrpSpPr>
          <p:cNvPr id="22" name="Group 22"/>
          <p:cNvGrpSpPr/>
          <p:nvPr/>
        </p:nvGrpSpPr>
        <p:grpSpPr>
          <a:xfrm rot="-5400000">
            <a:off x="1852809" y="-3972456"/>
            <a:ext cx="1133680" cy="8284865"/>
            <a:chOff x="0" y="0"/>
            <a:chExt cx="298582" cy="2182022"/>
          </a:xfrm>
        </p:grpSpPr>
        <p:sp>
          <p:nvSpPr>
            <p:cNvPr id="23" name="Freeform 23"/>
            <p:cNvSpPr/>
            <p:nvPr/>
          </p:nvSpPr>
          <p:spPr>
            <a:xfrm>
              <a:off x="0" y="0"/>
              <a:ext cx="298582" cy="2182022"/>
            </a:xfrm>
            <a:custGeom>
              <a:avLst/>
              <a:gdLst/>
              <a:ahLst/>
              <a:cxnLst/>
              <a:rect l="l" t="t" r="r" b="b"/>
              <a:pathLst>
                <a:path w="298582" h="2182022">
                  <a:moveTo>
                    <a:pt x="298582" y="0"/>
                  </a:moveTo>
                  <a:lnTo>
                    <a:pt x="298582" y="2067722"/>
                  </a:lnTo>
                  <a:lnTo>
                    <a:pt x="149291" y="2182022"/>
                  </a:lnTo>
                  <a:lnTo>
                    <a:pt x="0" y="2067722"/>
                  </a:lnTo>
                  <a:lnTo>
                    <a:pt x="0" y="0"/>
                  </a:lnTo>
                  <a:lnTo>
                    <a:pt x="298582" y="0"/>
                  </a:lnTo>
                  <a:close/>
                </a:path>
              </a:pathLst>
            </a:custGeom>
            <a:gradFill rotWithShape="1">
              <a:gsLst>
                <a:gs pos="0">
                  <a:srgbClr val="004AAD">
                    <a:alpha val="100000"/>
                  </a:srgbClr>
                </a:gs>
                <a:gs pos="100000">
                  <a:srgbClr val="CB6CE6">
                    <a:alpha val="100000"/>
                  </a:srgbClr>
                </a:gs>
              </a:gsLst>
              <a:path path="circle">
                <a:fillToRect r="100000" b="100000"/>
              </a:path>
              <a:tileRect l="-100000" t="-100000"/>
            </a:gradFill>
          </p:spPr>
        </p:sp>
        <p:sp>
          <p:nvSpPr>
            <p:cNvPr id="24" name="TextBox 24"/>
            <p:cNvSpPr txBox="1"/>
            <p:nvPr/>
          </p:nvSpPr>
          <p:spPr>
            <a:xfrm>
              <a:off x="0" y="-47625"/>
              <a:ext cx="298582" cy="2115347"/>
            </a:xfrm>
            <a:prstGeom prst="rect">
              <a:avLst/>
            </a:prstGeom>
          </p:spPr>
          <p:txBody>
            <a:bodyPr lIns="50800" tIns="50800" rIns="50800" bIns="50800" rtlCol="0" anchor="ctr"/>
            <a:lstStyle/>
            <a:p>
              <a:pPr algn="ctr">
                <a:lnSpc>
                  <a:spcPts val="3621"/>
                </a:lnSpc>
              </a:pPr>
              <a:endParaRPr/>
            </a:p>
          </p:txBody>
        </p:sp>
      </p:grpSp>
      <p:sp>
        <p:nvSpPr>
          <p:cNvPr id="25" name="TextBox 24">
            <a:extLst>
              <a:ext uri="{FF2B5EF4-FFF2-40B4-BE49-F238E27FC236}">
                <a16:creationId xmlns:a16="http://schemas.microsoft.com/office/drawing/2014/main" id="{E128CDEC-D890-602B-5E95-3A6465225DC1}"/>
              </a:ext>
            </a:extLst>
          </p:cNvPr>
          <p:cNvSpPr txBox="1"/>
          <p:nvPr/>
        </p:nvSpPr>
        <p:spPr>
          <a:xfrm>
            <a:off x="720147" y="3210884"/>
            <a:ext cx="7736125" cy="6494085"/>
          </a:xfrm>
          <a:prstGeom prst="rect">
            <a:avLst/>
          </a:prstGeom>
          <a:noFill/>
        </p:spPr>
        <p:txBody>
          <a:bodyPr wrap="square" rtlCol="0">
            <a:spAutoFit/>
          </a:bodyPr>
          <a:lstStyle/>
          <a:p>
            <a:pPr marL="285750" indent="-285750">
              <a:buFont typeface="Wingdings" panose="05000000000000000000" pitchFamily="2" charset="2"/>
              <a:buChar char="v"/>
            </a:pPr>
            <a:r>
              <a:rPr lang="en-US" sz="3200" b="1" dirty="0">
                <a:solidFill>
                  <a:schemeClr val="bg1"/>
                </a:solidFill>
              </a:rPr>
              <a:t>The system follows a structured architecture where input text is first preprocessed, then passed through a trained model for sentiment analysis. The output is then visualized and displayed to the user in an understandable format.</a:t>
            </a:r>
          </a:p>
          <a:p>
            <a:endParaRPr lang="en-US" sz="3200" b="1" dirty="0">
              <a:solidFill>
                <a:schemeClr val="bg1"/>
              </a:solidFill>
            </a:endParaRPr>
          </a:p>
          <a:p>
            <a:pPr marL="285750" indent="-285750">
              <a:buFont typeface="Wingdings" panose="05000000000000000000" pitchFamily="2" charset="2"/>
              <a:buChar char="v"/>
            </a:pPr>
            <a:r>
              <a:rPr lang="en-US" sz="3200" b="1" dirty="0">
                <a:solidFill>
                  <a:schemeClr val="bg1"/>
                </a:solidFill>
              </a:rPr>
              <a:t>Input text from user </a:t>
            </a:r>
          </a:p>
          <a:p>
            <a:pPr marL="285750" indent="-285750">
              <a:buFont typeface="Wingdings" panose="05000000000000000000" pitchFamily="2" charset="2"/>
              <a:buChar char="v"/>
            </a:pPr>
            <a:r>
              <a:rPr lang="en-US" sz="3200" b="1" dirty="0">
                <a:solidFill>
                  <a:schemeClr val="bg1"/>
                </a:solidFill>
              </a:rPr>
              <a:t>Data preprocessing stage </a:t>
            </a:r>
          </a:p>
          <a:p>
            <a:pPr marL="285750" indent="-285750">
              <a:buFont typeface="Wingdings" panose="05000000000000000000" pitchFamily="2" charset="2"/>
              <a:buChar char="v"/>
            </a:pPr>
            <a:r>
              <a:rPr lang="en-US" sz="3200" b="1" dirty="0">
                <a:solidFill>
                  <a:schemeClr val="bg1"/>
                </a:solidFill>
              </a:rPr>
              <a:t>Model prediction phase </a:t>
            </a:r>
          </a:p>
          <a:p>
            <a:pPr marL="285750" indent="-285750">
              <a:buFont typeface="Wingdings" panose="05000000000000000000" pitchFamily="2" charset="2"/>
              <a:buChar char="v"/>
            </a:pPr>
            <a:r>
              <a:rPr lang="en-US" sz="3200" b="1" dirty="0">
                <a:solidFill>
                  <a:schemeClr val="bg1"/>
                </a:solidFill>
              </a:rPr>
              <a:t>Emotion detection module </a:t>
            </a:r>
          </a:p>
          <a:p>
            <a:pPr marL="285750" indent="-285750">
              <a:buFont typeface="Wingdings" panose="05000000000000000000" pitchFamily="2" charset="2"/>
              <a:buChar char="v"/>
            </a:pPr>
            <a:r>
              <a:rPr lang="en-US" sz="3200" b="1" dirty="0">
                <a:solidFill>
                  <a:schemeClr val="bg1"/>
                </a:solidFill>
              </a:rPr>
              <a:t>Output visualization </a:t>
            </a:r>
          </a:p>
          <a:p>
            <a:pPr marL="285750" indent="-285750">
              <a:buFont typeface="Wingdings" panose="05000000000000000000" pitchFamily="2" charset="2"/>
              <a:buChar char="v"/>
            </a:pPr>
            <a:endParaRPr lang="en-IN" sz="3200" b="1" dirty="0">
              <a:solidFill>
                <a:schemeClr val="bg1"/>
              </a:solidFill>
            </a:endParaRPr>
          </a:p>
        </p:txBody>
      </p:sp>
      <p:pic>
        <p:nvPicPr>
          <p:cNvPr id="27" name="Picture 26">
            <a:extLst>
              <a:ext uri="{FF2B5EF4-FFF2-40B4-BE49-F238E27FC236}">
                <a16:creationId xmlns:a16="http://schemas.microsoft.com/office/drawing/2014/main" id="{A3214189-39CF-B53C-16BB-8F8594F4FA6F}"/>
              </a:ext>
            </a:extLst>
          </p:cNvPr>
          <p:cNvPicPr>
            <a:picLocks noChangeAspect="1"/>
          </p:cNvPicPr>
          <p:nvPr/>
        </p:nvPicPr>
        <p:blipFill>
          <a:blip r:embed="rId3"/>
          <a:stretch>
            <a:fillRect/>
          </a:stretch>
        </p:blipFill>
        <p:spPr>
          <a:xfrm>
            <a:off x="8651265" y="3099420"/>
            <a:ext cx="9011908" cy="59444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sp>
        <p:nvSpPr>
          <p:cNvPr id="3" name="TextBox 3"/>
          <p:cNvSpPr txBox="1"/>
          <p:nvPr/>
        </p:nvSpPr>
        <p:spPr>
          <a:xfrm>
            <a:off x="838200" y="800100"/>
            <a:ext cx="14287500" cy="1698798"/>
          </a:xfrm>
          <a:prstGeom prst="rect">
            <a:avLst/>
          </a:prstGeom>
        </p:spPr>
        <p:txBody>
          <a:bodyPr wrap="square" lIns="0" tIns="0" rIns="0" bIns="0" rtlCol="0" anchor="t">
            <a:spAutoFit/>
          </a:bodyPr>
          <a:lstStyle/>
          <a:p>
            <a:pPr>
              <a:lnSpc>
                <a:spcPts val="14280"/>
              </a:lnSpc>
            </a:pPr>
            <a:r>
              <a:rPr lang="en-IN" sz="9600" b="1" dirty="0">
                <a:solidFill>
                  <a:schemeClr val="bg1"/>
                </a:solidFill>
              </a:rPr>
              <a:t>Sentiment Analysis</a:t>
            </a:r>
            <a:endParaRPr lang="en-US" sz="10200" b="1" dirty="0">
              <a:solidFill>
                <a:schemeClr val="bg1"/>
              </a:solidFill>
              <a:latin typeface="Open Sans Bold"/>
              <a:ea typeface="Open Sans Bold"/>
              <a:cs typeface="Open Sans Bold"/>
              <a:sym typeface="Open Sans Bold"/>
            </a:endParaRPr>
          </a:p>
        </p:txBody>
      </p:sp>
      <p:grpSp>
        <p:nvGrpSpPr>
          <p:cNvPr id="15" name="Group 15"/>
          <p:cNvGrpSpPr/>
          <p:nvPr/>
        </p:nvGrpSpPr>
        <p:grpSpPr>
          <a:xfrm rot="-10800000">
            <a:off x="17473364" y="5949898"/>
            <a:ext cx="1133680" cy="8284865"/>
            <a:chOff x="0" y="0"/>
            <a:chExt cx="298582" cy="2182022"/>
          </a:xfrm>
        </p:grpSpPr>
        <p:sp>
          <p:nvSpPr>
            <p:cNvPr id="16" name="Freeform 16"/>
            <p:cNvSpPr/>
            <p:nvPr/>
          </p:nvSpPr>
          <p:spPr>
            <a:xfrm>
              <a:off x="0" y="0"/>
              <a:ext cx="298582" cy="2182022"/>
            </a:xfrm>
            <a:custGeom>
              <a:avLst/>
              <a:gdLst/>
              <a:ahLst/>
              <a:cxnLst/>
              <a:rect l="l" t="t" r="r" b="b"/>
              <a:pathLst>
                <a:path w="298582" h="2182022">
                  <a:moveTo>
                    <a:pt x="298582" y="0"/>
                  </a:moveTo>
                  <a:lnTo>
                    <a:pt x="298582" y="2067722"/>
                  </a:lnTo>
                  <a:lnTo>
                    <a:pt x="149291" y="2182022"/>
                  </a:lnTo>
                  <a:lnTo>
                    <a:pt x="0" y="2067722"/>
                  </a:lnTo>
                  <a:lnTo>
                    <a:pt x="0" y="0"/>
                  </a:lnTo>
                  <a:lnTo>
                    <a:pt x="298582" y="0"/>
                  </a:lnTo>
                  <a:close/>
                </a:path>
              </a:pathLst>
            </a:custGeom>
            <a:gradFill rotWithShape="1">
              <a:gsLst>
                <a:gs pos="0">
                  <a:srgbClr val="004AAD">
                    <a:alpha val="100000"/>
                  </a:srgbClr>
                </a:gs>
                <a:gs pos="100000">
                  <a:srgbClr val="CB6CE6">
                    <a:alpha val="100000"/>
                  </a:srgbClr>
                </a:gs>
              </a:gsLst>
              <a:path path="circle">
                <a:fillToRect r="100000" b="100000"/>
              </a:path>
              <a:tileRect l="-100000" t="-100000"/>
            </a:gradFill>
          </p:spPr>
        </p:sp>
        <p:sp>
          <p:nvSpPr>
            <p:cNvPr id="17" name="TextBox 17"/>
            <p:cNvSpPr txBox="1"/>
            <p:nvPr/>
          </p:nvSpPr>
          <p:spPr>
            <a:xfrm>
              <a:off x="0" y="-47625"/>
              <a:ext cx="298582" cy="2115347"/>
            </a:xfrm>
            <a:prstGeom prst="rect">
              <a:avLst/>
            </a:prstGeom>
          </p:spPr>
          <p:txBody>
            <a:bodyPr lIns="50800" tIns="50800" rIns="50800" bIns="50800" rtlCol="0" anchor="ctr"/>
            <a:lstStyle/>
            <a:p>
              <a:pPr algn="ctr">
                <a:lnSpc>
                  <a:spcPts val="3621"/>
                </a:lnSpc>
              </a:pPr>
              <a:endParaRPr/>
            </a:p>
          </p:txBody>
        </p:sp>
      </p:grpSp>
      <p:sp>
        <p:nvSpPr>
          <p:cNvPr id="18" name="TextBox 17">
            <a:extLst>
              <a:ext uri="{FF2B5EF4-FFF2-40B4-BE49-F238E27FC236}">
                <a16:creationId xmlns:a16="http://schemas.microsoft.com/office/drawing/2014/main" id="{C2A9F920-8C20-580A-DE98-7311B3652B79}"/>
              </a:ext>
            </a:extLst>
          </p:cNvPr>
          <p:cNvSpPr txBox="1"/>
          <p:nvPr/>
        </p:nvSpPr>
        <p:spPr>
          <a:xfrm>
            <a:off x="990600" y="3390900"/>
            <a:ext cx="14325600" cy="5016758"/>
          </a:xfrm>
          <a:prstGeom prst="rect">
            <a:avLst/>
          </a:prstGeom>
          <a:noFill/>
        </p:spPr>
        <p:txBody>
          <a:bodyPr wrap="square" rtlCol="0">
            <a:spAutoFit/>
          </a:bodyPr>
          <a:lstStyle/>
          <a:p>
            <a:pPr marL="457200" indent="-457200">
              <a:buFont typeface="Wingdings" panose="05000000000000000000" pitchFamily="2" charset="2"/>
              <a:buChar char="v"/>
            </a:pPr>
            <a:r>
              <a:rPr lang="en-US" sz="3200" b="1" dirty="0">
                <a:solidFill>
                  <a:schemeClr val="bg1"/>
                </a:solidFill>
              </a:rPr>
              <a:t>Sentiment analysis is the core functionality of this system. It evaluates the text and determines whether the sentiment expressed is positive, negative, or neutral, along with confidence scores.</a:t>
            </a:r>
          </a:p>
          <a:p>
            <a:pPr marL="457200" indent="-457200">
              <a:buFont typeface="Wingdings" panose="05000000000000000000" pitchFamily="2" charset="2"/>
              <a:buChar char="v"/>
            </a:pPr>
            <a:endParaRPr lang="en-US" sz="3200" b="1" dirty="0">
              <a:solidFill>
                <a:schemeClr val="bg1"/>
              </a:solidFill>
            </a:endParaRPr>
          </a:p>
          <a:p>
            <a:pPr marL="457200" indent="-457200">
              <a:buFont typeface="Wingdings" panose="05000000000000000000" pitchFamily="2" charset="2"/>
              <a:buChar char="v"/>
            </a:pPr>
            <a:r>
              <a:rPr lang="en-US" sz="3200" b="1" dirty="0">
                <a:solidFill>
                  <a:schemeClr val="bg1"/>
                </a:solidFill>
              </a:rPr>
              <a:t>Identifies sentiment polarity </a:t>
            </a:r>
          </a:p>
          <a:p>
            <a:pPr marL="457200" indent="-457200">
              <a:buFont typeface="Wingdings" panose="05000000000000000000" pitchFamily="2" charset="2"/>
              <a:buChar char="v"/>
            </a:pPr>
            <a:r>
              <a:rPr lang="en-US" sz="3200" b="1" dirty="0">
                <a:solidFill>
                  <a:schemeClr val="bg1"/>
                </a:solidFill>
              </a:rPr>
              <a:t>Uses trained AI models </a:t>
            </a:r>
          </a:p>
          <a:p>
            <a:pPr marL="457200" indent="-457200">
              <a:buFont typeface="Wingdings" panose="05000000000000000000" pitchFamily="2" charset="2"/>
              <a:buChar char="v"/>
            </a:pPr>
            <a:r>
              <a:rPr lang="en-US" sz="3200" b="1" dirty="0">
                <a:solidFill>
                  <a:schemeClr val="bg1"/>
                </a:solidFill>
              </a:rPr>
              <a:t>Provides confidence score </a:t>
            </a:r>
          </a:p>
          <a:p>
            <a:pPr marL="457200" indent="-457200">
              <a:buFont typeface="Wingdings" panose="05000000000000000000" pitchFamily="2" charset="2"/>
              <a:buChar char="v"/>
            </a:pPr>
            <a:r>
              <a:rPr lang="en-US" sz="3200" b="1" dirty="0">
                <a:solidFill>
                  <a:schemeClr val="bg1"/>
                </a:solidFill>
              </a:rPr>
              <a:t>Works on different text types </a:t>
            </a:r>
          </a:p>
          <a:p>
            <a:pPr marL="457200" indent="-457200">
              <a:buFont typeface="Wingdings" panose="05000000000000000000" pitchFamily="2" charset="2"/>
              <a:buChar char="v"/>
            </a:pPr>
            <a:r>
              <a:rPr lang="en-US" sz="3200" b="1" dirty="0">
                <a:solidFill>
                  <a:schemeClr val="bg1"/>
                </a:solidFill>
              </a:rPr>
              <a:t>Helps in decision-making</a:t>
            </a:r>
          </a:p>
          <a:p>
            <a:pPr marL="457200" indent="-457200">
              <a:buFont typeface="Wingdings" panose="05000000000000000000" pitchFamily="2" charset="2"/>
              <a:buChar char="v"/>
            </a:pPr>
            <a:endParaRPr lang="en-IN" sz="3200" b="1"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sp>
        <p:nvSpPr>
          <p:cNvPr id="3" name="TextBox 3"/>
          <p:cNvSpPr txBox="1"/>
          <p:nvPr/>
        </p:nvSpPr>
        <p:spPr>
          <a:xfrm>
            <a:off x="4114800" y="1028700"/>
            <a:ext cx="9456319" cy="834844"/>
          </a:xfrm>
          <a:prstGeom prst="rect">
            <a:avLst/>
          </a:prstGeom>
        </p:spPr>
        <p:txBody>
          <a:bodyPr lIns="0" tIns="0" rIns="0" bIns="0" rtlCol="0" anchor="t">
            <a:spAutoFit/>
          </a:bodyPr>
          <a:lstStyle/>
          <a:p>
            <a:pPr algn="ctr">
              <a:lnSpc>
                <a:spcPts val="5790"/>
              </a:lnSpc>
            </a:pPr>
            <a:r>
              <a:rPr lang="en-IN" sz="7200" b="1" dirty="0">
                <a:solidFill>
                  <a:schemeClr val="bg1"/>
                </a:solidFill>
              </a:rPr>
              <a:t>Emotion Detection</a:t>
            </a:r>
            <a:endParaRPr lang="en-US" sz="7200" b="1" dirty="0">
              <a:solidFill>
                <a:schemeClr val="bg1"/>
              </a:solidFill>
              <a:latin typeface="Garet Bold"/>
              <a:ea typeface="Garet Bold"/>
              <a:cs typeface="Garet Bold"/>
              <a:sym typeface="Garet Bold"/>
            </a:endParaRPr>
          </a:p>
        </p:txBody>
      </p:sp>
      <p:sp>
        <p:nvSpPr>
          <p:cNvPr id="8" name="TextBox 7">
            <a:extLst>
              <a:ext uri="{FF2B5EF4-FFF2-40B4-BE49-F238E27FC236}">
                <a16:creationId xmlns:a16="http://schemas.microsoft.com/office/drawing/2014/main" id="{26ADEAA5-F76E-9B07-169B-8036021AC7B8}"/>
              </a:ext>
            </a:extLst>
          </p:cNvPr>
          <p:cNvSpPr txBox="1"/>
          <p:nvPr/>
        </p:nvSpPr>
        <p:spPr>
          <a:xfrm>
            <a:off x="1905000" y="3543300"/>
            <a:ext cx="13944600" cy="5016758"/>
          </a:xfrm>
          <a:prstGeom prst="rect">
            <a:avLst/>
          </a:prstGeom>
          <a:noFill/>
        </p:spPr>
        <p:txBody>
          <a:bodyPr wrap="square" rtlCol="0">
            <a:spAutoFit/>
          </a:bodyPr>
          <a:lstStyle/>
          <a:p>
            <a:pPr marL="457200" indent="-457200">
              <a:buFont typeface="Wingdings" panose="05000000000000000000" pitchFamily="2" charset="2"/>
              <a:buChar char="v"/>
            </a:pPr>
            <a:r>
              <a:rPr lang="en-US" sz="3200" b="1" dirty="0">
                <a:solidFill>
                  <a:schemeClr val="bg1"/>
                </a:solidFill>
              </a:rPr>
              <a:t>Beyond basic sentiment, the system also detects specific emotions present in the text. This adds deeper understanding and provides more meaningful insights into user opinions</a:t>
            </a:r>
          </a:p>
          <a:p>
            <a:endParaRPr lang="en-US" sz="3200" b="1" dirty="0">
              <a:solidFill>
                <a:schemeClr val="bg1"/>
              </a:solidFill>
            </a:endParaRPr>
          </a:p>
          <a:p>
            <a:pPr marL="457200" indent="-457200">
              <a:buFont typeface="Wingdings" panose="05000000000000000000" pitchFamily="2" charset="2"/>
              <a:buChar char="v"/>
            </a:pPr>
            <a:r>
              <a:rPr lang="en-US" sz="3200" b="1" dirty="0">
                <a:solidFill>
                  <a:schemeClr val="bg1"/>
                </a:solidFill>
              </a:rPr>
              <a:t>Detects multiple emotions </a:t>
            </a:r>
          </a:p>
          <a:p>
            <a:pPr marL="457200" indent="-457200">
              <a:buFont typeface="Wingdings" panose="05000000000000000000" pitchFamily="2" charset="2"/>
              <a:buChar char="v"/>
            </a:pPr>
            <a:r>
              <a:rPr lang="en-US" sz="3200" b="1" dirty="0">
                <a:solidFill>
                  <a:schemeClr val="bg1"/>
                </a:solidFill>
              </a:rPr>
              <a:t>Includes joy, anger, sadness, etc. </a:t>
            </a:r>
          </a:p>
          <a:p>
            <a:pPr marL="457200" indent="-457200">
              <a:buFont typeface="Wingdings" panose="05000000000000000000" pitchFamily="2" charset="2"/>
              <a:buChar char="v"/>
            </a:pPr>
            <a:r>
              <a:rPr lang="en-US" sz="3200" b="1" dirty="0">
                <a:solidFill>
                  <a:schemeClr val="bg1"/>
                </a:solidFill>
              </a:rPr>
              <a:t>Enhances analysis depth </a:t>
            </a:r>
          </a:p>
          <a:p>
            <a:pPr marL="457200" indent="-457200">
              <a:buFont typeface="Wingdings" panose="05000000000000000000" pitchFamily="2" charset="2"/>
              <a:buChar char="v"/>
            </a:pPr>
            <a:r>
              <a:rPr lang="en-US" sz="3200" b="1" dirty="0">
                <a:solidFill>
                  <a:schemeClr val="bg1"/>
                </a:solidFill>
              </a:rPr>
              <a:t>Uses advanced models </a:t>
            </a:r>
          </a:p>
          <a:p>
            <a:pPr marL="457200" indent="-457200">
              <a:buFont typeface="Wingdings" panose="05000000000000000000" pitchFamily="2" charset="2"/>
              <a:buChar char="v"/>
            </a:pPr>
            <a:r>
              <a:rPr lang="en-US" sz="3200" b="1" dirty="0">
                <a:solidFill>
                  <a:schemeClr val="bg1"/>
                </a:solidFill>
              </a:rPr>
              <a:t>Improves result accuracy</a:t>
            </a:r>
          </a:p>
          <a:p>
            <a:pPr marL="457200" indent="-457200">
              <a:buFont typeface="Wingdings" panose="05000000000000000000" pitchFamily="2" charset="2"/>
              <a:buChar char="v"/>
            </a:pPr>
            <a:endParaRPr lang="en-IN" sz="3200" b="1"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7291A-4777-C5F6-C81E-057C3DF7CE0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E3E1854-A218-B302-C272-46643BD871D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sp>
        <p:nvSpPr>
          <p:cNvPr id="3" name="TextBox 3">
            <a:extLst>
              <a:ext uri="{FF2B5EF4-FFF2-40B4-BE49-F238E27FC236}">
                <a16:creationId xmlns:a16="http://schemas.microsoft.com/office/drawing/2014/main" id="{A842B834-CDFA-93E2-0281-70DF6F53646B}"/>
              </a:ext>
            </a:extLst>
          </p:cNvPr>
          <p:cNvSpPr txBox="1"/>
          <p:nvPr/>
        </p:nvSpPr>
        <p:spPr>
          <a:xfrm>
            <a:off x="4149140" y="1104900"/>
            <a:ext cx="9456319" cy="1578637"/>
          </a:xfrm>
          <a:prstGeom prst="rect">
            <a:avLst/>
          </a:prstGeom>
        </p:spPr>
        <p:txBody>
          <a:bodyPr lIns="0" tIns="0" rIns="0" bIns="0" rtlCol="0" anchor="t">
            <a:spAutoFit/>
          </a:bodyPr>
          <a:lstStyle/>
          <a:p>
            <a:pPr algn="ctr">
              <a:lnSpc>
                <a:spcPts val="5790"/>
              </a:lnSpc>
            </a:pPr>
            <a:r>
              <a:rPr lang="en-US" sz="7200" b="1" dirty="0">
                <a:solidFill>
                  <a:schemeClr val="bg1"/>
                </a:solidFill>
              </a:rPr>
              <a:t>Data Visualization</a:t>
            </a:r>
          </a:p>
          <a:p>
            <a:pPr algn="ctr">
              <a:lnSpc>
                <a:spcPts val="5790"/>
              </a:lnSpc>
            </a:pPr>
            <a:endParaRPr lang="en-US" sz="7200" b="1" dirty="0">
              <a:solidFill>
                <a:schemeClr val="bg1"/>
              </a:solidFill>
              <a:latin typeface="Garet Bold"/>
              <a:ea typeface="Garet Bold"/>
              <a:cs typeface="Garet Bold"/>
              <a:sym typeface="Garet Bold"/>
            </a:endParaRPr>
          </a:p>
        </p:txBody>
      </p:sp>
      <p:sp>
        <p:nvSpPr>
          <p:cNvPr id="8" name="TextBox 7">
            <a:extLst>
              <a:ext uri="{FF2B5EF4-FFF2-40B4-BE49-F238E27FC236}">
                <a16:creationId xmlns:a16="http://schemas.microsoft.com/office/drawing/2014/main" id="{99C5665D-A80A-69FF-E726-79DB4D011AAB}"/>
              </a:ext>
            </a:extLst>
          </p:cNvPr>
          <p:cNvSpPr txBox="1"/>
          <p:nvPr/>
        </p:nvSpPr>
        <p:spPr>
          <a:xfrm>
            <a:off x="1905000" y="3543300"/>
            <a:ext cx="13944600" cy="5016758"/>
          </a:xfrm>
          <a:prstGeom prst="rect">
            <a:avLst/>
          </a:prstGeom>
          <a:noFill/>
        </p:spPr>
        <p:txBody>
          <a:bodyPr wrap="square" rtlCol="0">
            <a:spAutoFit/>
          </a:bodyPr>
          <a:lstStyle/>
          <a:p>
            <a:pPr marL="457200" indent="-457200">
              <a:buFont typeface="Wingdings" panose="05000000000000000000" pitchFamily="2" charset="2"/>
              <a:buChar char="v"/>
            </a:pPr>
            <a:r>
              <a:rPr lang="en-US" sz="3200" b="1" dirty="0">
                <a:solidFill>
                  <a:schemeClr val="bg1"/>
                </a:solidFill>
              </a:rPr>
              <a:t>The system presents results using various graphical representations to make the analysis more understandable and visually appealing. These visualizations help users quickly interpret the data.</a:t>
            </a:r>
          </a:p>
          <a:p>
            <a:endParaRPr lang="en-US" sz="3200" b="1" dirty="0">
              <a:solidFill>
                <a:schemeClr val="bg1"/>
              </a:solidFill>
            </a:endParaRPr>
          </a:p>
          <a:p>
            <a:pPr marL="457200" indent="-457200">
              <a:buFont typeface="Wingdings" panose="05000000000000000000" pitchFamily="2" charset="2"/>
              <a:buChar char="v"/>
            </a:pPr>
            <a:r>
              <a:rPr lang="en-US" sz="3200" b="1" dirty="0">
                <a:solidFill>
                  <a:schemeClr val="bg1"/>
                </a:solidFill>
              </a:rPr>
              <a:t>Uses charts and graphs </a:t>
            </a:r>
          </a:p>
          <a:p>
            <a:pPr marL="457200" indent="-457200">
              <a:buFont typeface="Wingdings" panose="05000000000000000000" pitchFamily="2" charset="2"/>
              <a:buChar char="v"/>
            </a:pPr>
            <a:r>
              <a:rPr lang="en-US" sz="3200" b="1" dirty="0">
                <a:solidFill>
                  <a:schemeClr val="bg1"/>
                </a:solidFill>
              </a:rPr>
              <a:t>Pie chart for sentiment distribution </a:t>
            </a:r>
          </a:p>
          <a:p>
            <a:pPr marL="457200" indent="-457200">
              <a:buFont typeface="Wingdings" panose="05000000000000000000" pitchFamily="2" charset="2"/>
              <a:buChar char="v"/>
            </a:pPr>
            <a:r>
              <a:rPr lang="en-US" sz="3200" b="1" dirty="0">
                <a:solidFill>
                  <a:schemeClr val="bg1"/>
                </a:solidFill>
              </a:rPr>
              <a:t>Bar graphs for comparison </a:t>
            </a:r>
          </a:p>
          <a:p>
            <a:pPr marL="457200" indent="-457200">
              <a:buFont typeface="Wingdings" panose="05000000000000000000" pitchFamily="2" charset="2"/>
              <a:buChar char="v"/>
            </a:pPr>
            <a:r>
              <a:rPr lang="en-US" sz="3200" b="1" dirty="0">
                <a:solidFill>
                  <a:schemeClr val="bg1"/>
                </a:solidFill>
              </a:rPr>
              <a:t>Trend analysis visualization </a:t>
            </a:r>
          </a:p>
          <a:p>
            <a:pPr marL="457200" indent="-457200">
              <a:buFont typeface="Wingdings" panose="05000000000000000000" pitchFamily="2" charset="2"/>
              <a:buChar char="v"/>
            </a:pPr>
            <a:r>
              <a:rPr lang="en-US" sz="3200" b="1" dirty="0">
                <a:solidFill>
                  <a:schemeClr val="bg1"/>
                </a:solidFill>
              </a:rPr>
              <a:t>Easy to understand outputs</a:t>
            </a:r>
          </a:p>
          <a:p>
            <a:pPr marL="457200" indent="-457200">
              <a:buFont typeface="Wingdings" panose="05000000000000000000" pitchFamily="2" charset="2"/>
              <a:buChar char="v"/>
            </a:pPr>
            <a:endParaRPr lang="en-IN" sz="3200" b="1" dirty="0">
              <a:solidFill>
                <a:schemeClr val="bg1"/>
              </a:solidFill>
            </a:endParaRPr>
          </a:p>
        </p:txBody>
      </p:sp>
      <p:pic>
        <p:nvPicPr>
          <p:cNvPr id="5" name="Picture 4">
            <a:extLst>
              <a:ext uri="{FF2B5EF4-FFF2-40B4-BE49-F238E27FC236}">
                <a16:creationId xmlns:a16="http://schemas.microsoft.com/office/drawing/2014/main" id="{B2013DA8-BD50-6557-6E24-1D3463843AEF}"/>
              </a:ext>
            </a:extLst>
          </p:cNvPr>
          <p:cNvPicPr>
            <a:picLocks noChangeAspect="1"/>
          </p:cNvPicPr>
          <p:nvPr/>
        </p:nvPicPr>
        <p:blipFill>
          <a:blip r:embed="rId3"/>
          <a:stretch>
            <a:fillRect/>
          </a:stretch>
        </p:blipFill>
        <p:spPr>
          <a:xfrm>
            <a:off x="11965547" y="5113434"/>
            <a:ext cx="4429743" cy="4077269"/>
          </a:xfrm>
          <a:prstGeom prst="rect">
            <a:avLst/>
          </a:prstGeom>
        </p:spPr>
      </p:pic>
    </p:spTree>
    <p:extLst>
      <p:ext uri="{BB962C8B-B14F-4D97-AF65-F5344CB8AC3E}">
        <p14:creationId xmlns:p14="http://schemas.microsoft.com/office/powerpoint/2010/main" val="2518382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8BBCA-BD81-F1D9-2216-3AD40C91058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0D19711-E42D-AFEB-6B9D-B47937B858E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sp>
        <p:nvSpPr>
          <p:cNvPr id="3" name="TextBox 3">
            <a:extLst>
              <a:ext uri="{FF2B5EF4-FFF2-40B4-BE49-F238E27FC236}">
                <a16:creationId xmlns:a16="http://schemas.microsoft.com/office/drawing/2014/main" id="{2A45B066-5399-07CE-72C6-3B2D6A073EAF}"/>
              </a:ext>
            </a:extLst>
          </p:cNvPr>
          <p:cNvSpPr txBox="1"/>
          <p:nvPr/>
        </p:nvSpPr>
        <p:spPr>
          <a:xfrm>
            <a:off x="4149140" y="1104900"/>
            <a:ext cx="9456319" cy="1578637"/>
          </a:xfrm>
          <a:prstGeom prst="rect">
            <a:avLst/>
          </a:prstGeom>
        </p:spPr>
        <p:txBody>
          <a:bodyPr lIns="0" tIns="0" rIns="0" bIns="0" rtlCol="0" anchor="t">
            <a:spAutoFit/>
          </a:bodyPr>
          <a:lstStyle/>
          <a:p>
            <a:pPr algn="ctr">
              <a:lnSpc>
                <a:spcPts val="5790"/>
              </a:lnSpc>
            </a:pPr>
            <a:r>
              <a:rPr lang="en-US" sz="7200" b="1" dirty="0">
                <a:solidFill>
                  <a:schemeClr val="bg1"/>
                </a:solidFill>
              </a:rPr>
              <a:t>Applications</a:t>
            </a:r>
          </a:p>
          <a:p>
            <a:pPr algn="ctr">
              <a:lnSpc>
                <a:spcPts val="5790"/>
              </a:lnSpc>
            </a:pPr>
            <a:endParaRPr lang="en-US" sz="7200" b="1" dirty="0">
              <a:solidFill>
                <a:schemeClr val="bg1"/>
              </a:solidFill>
              <a:latin typeface="Garet Bold"/>
              <a:ea typeface="Garet Bold"/>
              <a:cs typeface="Garet Bold"/>
              <a:sym typeface="Garet Bold"/>
            </a:endParaRPr>
          </a:p>
        </p:txBody>
      </p:sp>
      <p:sp>
        <p:nvSpPr>
          <p:cNvPr id="8" name="TextBox 7">
            <a:extLst>
              <a:ext uri="{FF2B5EF4-FFF2-40B4-BE49-F238E27FC236}">
                <a16:creationId xmlns:a16="http://schemas.microsoft.com/office/drawing/2014/main" id="{1C885623-26E9-20AA-7D9F-4683EA475325}"/>
              </a:ext>
            </a:extLst>
          </p:cNvPr>
          <p:cNvSpPr txBox="1"/>
          <p:nvPr/>
        </p:nvSpPr>
        <p:spPr>
          <a:xfrm>
            <a:off x="1905000" y="3543300"/>
            <a:ext cx="13944600" cy="5016758"/>
          </a:xfrm>
          <a:prstGeom prst="rect">
            <a:avLst/>
          </a:prstGeom>
          <a:noFill/>
        </p:spPr>
        <p:txBody>
          <a:bodyPr wrap="square" rtlCol="0">
            <a:spAutoFit/>
          </a:bodyPr>
          <a:lstStyle/>
          <a:p>
            <a:pPr marL="457200" indent="-457200">
              <a:buFont typeface="Wingdings" panose="05000000000000000000" pitchFamily="2" charset="2"/>
              <a:buChar char="v"/>
            </a:pPr>
            <a:r>
              <a:rPr lang="en-US" sz="3200" b="1" dirty="0">
                <a:solidFill>
                  <a:schemeClr val="bg1"/>
                </a:solidFill>
              </a:rPr>
              <a:t>Sentiment analysis has a wide range of applications in different industries. It is especially useful for analyzing customer opinions, social media data, and product feedback.</a:t>
            </a:r>
          </a:p>
          <a:p>
            <a:endParaRPr lang="en-US" sz="3200" b="1" dirty="0">
              <a:solidFill>
                <a:schemeClr val="bg1"/>
              </a:solidFill>
            </a:endParaRPr>
          </a:p>
          <a:p>
            <a:pPr marL="457200" indent="-457200">
              <a:buFont typeface="Wingdings" panose="05000000000000000000" pitchFamily="2" charset="2"/>
              <a:buChar char="v"/>
            </a:pPr>
            <a:r>
              <a:rPr lang="en-US" sz="3200" b="1" dirty="0">
                <a:solidFill>
                  <a:schemeClr val="bg1"/>
                </a:solidFill>
              </a:rPr>
              <a:t>Social media monitoring </a:t>
            </a:r>
          </a:p>
          <a:p>
            <a:pPr marL="457200" indent="-457200">
              <a:buFont typeface="Wingdings" panose="05000000000000000000" pitchFamily="2" charset="2"/>
              <a:buChar char="v"/>
            </a:pPr>
            <a:r>
              <a:rPr lang="en-US" sz="3200" b="1" dirty="0">
                <a:solidFill>
                  <a:schemeClr val="bg1"/>
                </a:solidFill>
              </a:rPr>
              <a:t>Product review analysis </a:t>
            </a:r>
          </a:p>
          <a:p>
            <a:pPr marL="457200" indent="-457200">
              <a:buFont typeface="Wingdings" panose="05000000000000000000" pitchFamily="2" charset="2"/>
              <a:buChar char="v"/>
            </a:pPr>
            <a:r>
              <a:rPr lang="en-US" sz="3200" b="1" dirty="0">
                <a:solidFill>
                  <a:schemeClr val="bg1"/>
                </a:solidFill>
              </a:rPr>
              <a:t>Customer feedback evaluation </a:t>
            </a:r>
          </a:p>
          <a:p>
            <a:pPr marL="457200" indent="-457200">
              <a:buFont typeface="Wingdings" panose="05000000000000000000" pitchFamily="2" charset="2"/>
              <a:buChar char="v"/>
            </a:pPr>
            <a:r>
              <a:rPr lang="en-US" sz="3200" b="1" dirty="0">
                <a:solidFill>
                  <a:schemeClr val="bg1"/>
                </a:solidFill>
              </a:rPr>
              <a:t>Market research </a:t>
            </a:r>
          </a:p>
          <a:p>
            <a:pPr marL="457200" indent="-457200">
              <a:buFont typeface="Wingdings" panose="05000000000000000000" pitchFamily="2" charset="2"/>
              <a:buChar char="v"/>
            </a:pPr>
            <a:r>
              <a:rPr lang="en-US" sz="3200" b="1" dirty="0">
                <a:solidFill>
                  <a:schemeClr val="bg1"/>
                </a:solidFill>
              </a:rPr>
              <a:t>Brand reputation management</a:t>
            </a:r>
          </a:p>
          <a:p>
            <a:pPr marL="457200" indent="-457200">
              <a:buFont typeface="Wingdings" panose="05000000000000000000" pitchFamily="2" charset="2"/>
              <a:buChar char="v"/>
            </a:pPr>
            <a:endParaRPr lang="en-IN" sz="3200" b="1" dirty="0">
              <a:solidFill>
                <a:schemeClr val="bg1"/>
              </a:solidFill>
            </a:endParaRPr>
          </a:p>
        </p:txBody>
      </p:sp>
    </p:spTree>
    <p:extLst>
      <p:ext uri="{BB962C8B-B14F-4D97-AF65-F5344CB8AC3E}">
        <p14:creationId xmlns:p14="http://schemas.microsoft.com/office/powerpoint/2010/main" val="551411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BF885-43AE-60CF-6E91-E6A2E486F72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14DB1C1-C0E4-C099-BD9F-646EC55A553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sp>
        <p:nvSpPr>
          <p:cNvPr id="3" name="TextBox 3">
            <a:extLst>
              <a:ext uri="{FF2B5EF4-FFF2-40B4-BE49-F238E27FC236}">
                <a16:creationId xmlns:a16="http://schemas.microsoft.com/office/drawing/2014/main" id="{10CFF71D-245F-19EA-7AFD-AB0472EFD37A}"/>
              </a:ext>
            </a:extLst>
          </p:cNvPr>
          <p:cNvSpPr txBox="1"/>
          <p:nvPr/>
        </p:nvSpPr>
        <p:spPr>
          <a:xfrm>
            <a:off x="4149140" y="1104900"/>
            <a:ext cx="9456319" cy="1578637"/>
          </a:xfrm>
          <a:prstGeom prst="rect">
            <a:avLst/>
          </a:prstGeom>
        </p:spPr>
        <p:txBody>
          <a:bodyPr lIns="0" tIns="0" rIns="0" bIns="0" rtlCol="0" anchor="t">
            <a:spAutoFit/>
          </a:bodyPr>
          <a:lstStyle/>
          <a:p>
            <a:pPr algn="ctr">
              <a:lnSpc>
                <a:spcPts val="5790"/>
              </a:lnSpc>
            </a:pPr>
            <a:r>
              <a:rPr lang="en-US" sz="7200" b="1" dirty="0">
                <a:solidFill>
                  <a:schemeClr val="bg1"/>
                </a:solidFill>
              </a:rPr>
              <a:t>Conclusion</a:t>
            </a:r>
          </a:p>
          <a:p>
            <a:pPr algn="ctr">
              <a:lnSpc>
                <a:spcPts val="5790"/>
              </a:lnSpc>
            </a:pPr>
            <a:endParaRPr lang="en-US" sz="7200" b="1" dirty="0">
              <a:solidFill>
                <a:schemeClr val="bg1"/>
              </a:solidFill>
              <a:latin typeface="Garet Bold"/>
              <a:ea typeface="Garet Bold"/>
              <a:cs typeface="Garet Bold"/>
              <a:sym typeface="Garet Bold"/>
            </a:endParaRPr>
          </a:p>
        </p:txBody>
      </p:sp>
      <p:sp>
        <p:nvSpPr>
          <p:cNvPr id="8" name="TextBox 7">
            <a:extLst>
              <a:ext uri="{FF2B5EF4-FFF2-40B4-BE49-F238E27FC236}">
                <a16:creationId xmlns:a16="http://schemas.microsoft.com/office/drawing/2014/main" id="{5C05DF9B-1F8B-3887-C380-30860C406433}"/>
              </a:ext>
            </a:extLst>
          </p:cNvPr>
          <p:cNvSpPr txBox="1"/>
          <p:nvPr/>
        </p:nvSpPr>
        <p:spPr>
          <a:xfrm>
            <a:off x="1905000" y="3543300"/>
            <a:ext cx="13944600" cy="5509200"/>
          </a:xfrm>
          <a:prstGeom prst="rect">
            <a:avLst/>
          </a:prstGeom>
          <a:noFill/>
        </p:spPr>
        <p:txBody>
          <a:bodyPr wrap="square" rtlCol="0">
            <a:spAutoFit/>
          </a:bodyPr>
          <a:lstStyle/>
          <a:p>
            <a:pPr marL="457200" indent="-457200">
              <a:buFont typeface="Wingdings" panose="05000000000000000000" pitchFamily="2" charset="2"/>
              <a:buChar char="v"/>
            </a:pPr>
            <a:r>
              <a:rPr lang="en-US" sz="3200" b="1" dirty="0">
                <a:solidFill>
                  <a:schemeClr val="bg1"/>
                </a:solidFill>
              </a:rPr>
              <a:t>The sentiment analysis system is a powerful tool that leverages AI to understand human emotions from text. It provides accurate insights, supports multiple features, and can be extended for real-world applications.</a:t>
            </a:r>
          </a:p>
          <a:p>
            <a:pPr marL="457200" indent="-457200">
              <a:buFont typeface="Wingdings" panose="05000000000000000000" pitchFamily="2" charset="2"/>
              <a:buChar char="v"/>
            </a:pPr>
            <a:endParaRPr lang="en-US" sz="3200" b="1" dirty="0">
              <a:solidFill>
                <a:schemeClr val="bg1"/>
              </a:solidFill>
            </a:endParaRPr>
          </a:p>
          <a:p>
            <a:endParaRPr lang="en-US" sz="3200" b="1" dirty="0">
              <a:solidFill>
                <a:schemeClr val="bg1"/>
              </a:solidFill>
            </a:endParaRPr>
          </a:p>
          <a:p>
            <a:pPr marL="457200" indent="-457200">
              <a:buFont typeface="Wingdings" panose="05000000000000000000" pitchFamily="2" charset="2"/>
              <a:buChar char="v"/>
            </a:pPr>
            <a:r>
              <a:rPr lang="en-US" sz="3200" b="1" dirty="0">
                <a:solidFill>
                  <a:schemeClr val="bg1"/>
                </a:solidFill>
              </a:rPr>
              <a:t>Combines AI and NLP </a:t>
            </a:r>
          </a:p>
          <a:p>
            <a:pPr marL="457200" indent="-457200">
              <a:buFont typeface="Wingdings" panose="05000000000000000000" pitchFamily="2" charset="2"/>
              <a:buChar char="v"/>
            </a:pPr>
            <a:r>
              <a:rPr lang="en-US" sz="3200" b="1" dirty="0">
                <a:solidFill>
                  <a:schemeClr val="bg1"/>
                </a:solidFill>
              </a:rPr>
              <a:t>Provides accurate results </a:t>
            </a:r>
          </a:p>
          <a:p>
            <a:pPr marL="457200" indent="-457200">
              <a:buFont typeface="Wingdings" panose="05000000000000000000" pitchFamily="2" charset="2"/>
              <a:buChar char="v"/>
            </a:pPr>
            <a:r>
              <a:rPr lang="en-US" sz="3200" b="1" dirty="0">
                <a:solidFill>
                  <a:schemeClr val="bg1"/>
                </a:solidFill>
              </a:rPr>
              <a:t>User-friendly interface </a:t>
            </a:r>
          </a:p>
          <a:p>
            <a:pPr marL="457200" indent="-457200">
              <a:buFont typeface="Wingdings" panose="05000000000000000000" pitchFamily="2" charset="2"/>
              <a:buChar char="v"/>
            </a:pPr>
            <a:r>
              <a:rPr lang="en-US" sz="3200" b="1" dirty="0">
                <a:solidFill>
                  <a:schemeClr val="bg1"/>
                </a:solidFill>
              </a:rPr>
              <a:t>Useful in many industries </a:t>
            </a:r>
          </a:p>
          <a:p>
            <a:pPr marL="457200" indent="-457200">
              <a:buFont typeface="Wingdings" panose="05000000000000000000" pitchFamily="2" charset="2"/>
              <a:buChar char="v"/>
            </a:pPr>
            <a:r>
              <a:rPr lang="en-US" sz="3200" b="1" dirty="0">
                <a:solidFill>
                  <a:schemeClr val="bg1"/>
                </a:solidFill>
              </a:rPr>
              <a:t>Scope for future improvements</a:t>
            </a:r>
          </a:p>
          <a:p>
            <a:pPr marL="457200" indent="-457200">
              <a:buFont typeface="Wingdings" panose="05000000000000000000" pitchFamily="2" charset="2"/>
              <a:buChar char="v"/>
            </a:pPr>
            <a:endParaRPr lang="en-IN" sz="3200" b="1" dirty="0">
              <a:solidFill>
                <a:schemeClr val="bg1"/>
              </a:solidFill>
            </a:endParaRPr>
          </a:p>
        </p:txBody>
      </p:sp>
    </p:spTree>
    <p:extLst>
      <p:ext uri="{BB962C8B-B14F-4D97-AF65-F5344CB8AC3E}">
        <p14:creationId xmlns:p14="http://schemas.microsoft.com/office/powerpoint/2010/main" val="3190231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sp>
        <p:nvSpPr>
          <p:cNvPr id="3" name="TextBox 3"/>
          <p:cNvSpPr txBox="1"/>
          <p:nvPr/>
        </p:nvSpPr>
        <p:spPr>
          <a:xfrm>
            <a:off x="1028700" y="2318437"/>
            <a:ext cx="11576739" cy="2634563"/>
          </a:xfrm>
          <a:prstGeom prst="rect">
            <a:avLst/>
          </a:prstGeom>
        </p:spPr>
        <p:txBody>
          <a:bodyPr lIns="0" tIns="0" rIns="0" bIns="0" rtlCol="0" anchor="t">
            <a:spAutoFit/>
          </a:bodyPr>
          <a:lstStyle/>
          <a:p>
            <a:pPr algn="l">
              <a:lnSpc>
                <a:spcPts val="21577"/>
              </a:lnSpc>
            </a:pPr>
            <a:r>
              <a:rPr lang="en-US" sz="15412" b="1">
                <a:solidFill>
                  <a:srgbClr val="FFFFFF"/>
                </a:solidFill>
                <a:latin typeface="Open Sans Bold"/>
                <a:ea typeface="Open Sans Bold"/>
                <a:cs typeface="Open Sans Bold"/>
                <a:sym typeface="Open Sans Bold"/>
              </a:rPr>
              <a:t>Thank You</a:t>
            </a:r>
          </a:p>
        </p:txBody>
      </p:sp>
      <p:sp>
        <p:nvSpPr>
          <p:cNvPr id="5" name="TextBox 5"/>
          <p:cNvSpPr txBox="1"/>
          <p:nvPr/>
        </p:nvSpPr>
        <p:spPr>
          <a:xfrm>
            <a:off x="10977654" y="5910349"/>
            <a:ext cx="6281646" cy="394532"/>
          </a:xfrm>
          <a:prstGeom prst="rect">
            <a:avLst/>
          </a:prstGeom>
        </p:spPr>
        <p:txBody>
          <a:bodyPr lIns="0" tIns="0" rIns="0" bIns="0" rtlCol="0" anchor="t">
            <a:spAutoFit/>
          </a:bodyPr>
          <a:lstStyle/>
          <a:p>
            <a:pPr algn="l">
              <a:lnSpc>
                <a:spcPts val="3158"/>
              </a:lnSpc>
              <a:spcBef>
                <a:spcPct val="0"/>
              </a:spcBef>
            </a:pPr>
            <a:r>
              <a:rPr lang="en-US" sz="2255" dirty="0">
                <a:solidFill>
                  <a:srgbClr val="FFFFFF"/>
                </a:solidFill>
                <a:latin typeface="Garet"/>
                <a:ea typeface="Garet"/>
                <a:cs typeface="Garet"/>
                <a:sym typeface="Garet"/>
              </a:rPr>
              <a:t>Nafeesa Shaik</a:t>
            </a:r>
          </a:p>
        </p:txBody>
      </p:sp>
      <p:sp>
        <p:nvSpPr>
          <p:cNvPr id="6" name="TextBox 6"/>
          <p:cNvSpPr txBox="1"/>
          <p:nvPr/>
        </p:nvSpPr>
        <p:spPr>
          <a:xfrm>
            <a:off x="10977654" y="7264144"/>
            <a:ext cx="6281646" cy="394532"/>
          </a:xfrm>
          <a:prstGeom prst="rect">
            <a:avLst/>
          </a:prstGeom>
        </p:spPr>
        <p:txBody>
          <a:bodyPr lIns="0" tIns="0" rIns="0" bIns="0" rtlCol="0" anchor="t">
            <a:spAutoFit/>
          </a:bodyPr>
          <a:lstStyle/>
          <a:p>
            <a:pPr algn="l">
              <a:lnSpc>
                <a:spcPts val="3158"/>
              </a:lnSpc>
              <a:spcBef>
                <a:spcPct val="0"/>
              </a:spcBef>
            </a:pPr>
            <a:r>
              <a:rPr lang="en-US" sz="2255" dirty="0">
                <a:solidFill>
                  <a:srgbClr val="FFFFFF"/>
                </a:solidFill>
                <a:latin typeface="Garet"/>
                <a:ea typeface="Garet"/>
                <a:cs typeface="Garet"/>
                <a:sym typeface="Garet"/>
              </a:rPr>
              <a:t>Kavyanjali Talluri</a:t>
            </a:r>
          </a:p>
        </p:txBody>
      </p:sp>
      <p:sp>
        <p:nvSpPr>
          <p:cNvPr id="7" name="TextBox 7"/>
          <p:cNvSpPr txBox="1"/>
          <p:nvPr/>
        </p:nvSpPr>
        <p:spPr>
          <a:xfrm>
            <a:off x="10977654" y="7963764"/>
            <a:ext cx="6281646" cy="394532"/>
          </a:xfrm>
          <a:prstGeom prst="rect">
            <a:avLst/>
          </a:prstGeom>
        </p:spPr>
        <p:txBody>
          <a:bodyPr lIns="0" tIns="0" rIns="0" bIns="0" rtlCol="0" anchor="t">
            <a:spAutoFit/>
          </a:bodyPr>
          <a:lstStyle/>
          <a:p>
            <a:pPr algn="l">
              <a:lnSpc>
                <a:spcPts val="3158"/>
              </a:lnSpc>
              <a:spcBef>
                <a:spcPct val="0"/>
              </a:spcBef>
            </a:pPr>
            <a:r>
              <a:rPr lang="en-US" sz="2255" dirty="0">
                <a:solidFill>
                  <a:srgbClr val="FFFFFF"/>
                </a:solidFill>
                <a:latin typeface="Garet"/>
                <a:ea typeface="Garet"/>
                <a:cs typeface="Garet"/>
                <a:sym typeface="Garet"/>
              </a:rPr>
              <a:t>Kusumanjali </a:t>
            </a:r>
            <a:r>
              <a:rPr lang="en-US" sz="2255" dirty="0" err="1">
                <a:solidFill>
                  <a:srgbClr val="FFFFFF"/>
                </a:solidFill>
                <a:latin typeface="Garet"/>
                <a:ea typeface="Garet"/>
                <a:cs typeface="Garet"/>
                <a:sym typeface="Garet"/>
              </a:rPr>
              <a:t>Somisetty</a:t>
            </a:r>
            <a:endParaRPr lang="en-US" sz="2255" dirty="0">
              <a:solidFill>
                <a:srgbClr val="FFFFFF"/>
              </a:solidFill>
              <a:latin typeface="Garet"/>
              <a:ea typeface="Garet"/>
              <a:cs typeface="Garet"/>
              <a:sym typeface="Garet"/>
            </a:endParaRPr>
          </a:p>
        </p:txBody>
      </p:sp>
      <p:sp>
        <p:nvSpPr>
          <p:cNvPr id="8" name="TextBox 8"/>
          <p:cNvSpPr txBox="1"/>
          <p:nvPr/>
        </p:nvSpPr>
        <p:spPr>
          <a:xfrm>
            <a:off x="10977654" y="6560538"/>
            <a:ext cx="6281646" cy="394532"/>
          </a:xfrm>
          <a:prstGeom prst="rect">
            <a:avLst/>
          </a:prstGeom>
        </p:spPr>
        <p:txBody>
          <a:bodyPr lIns="0" tIns="0" rIns="0" bIns="0" rtlCol="0" anchor="t">
            <a:spAutoFit/>
          </a:bodyPr>
          <a:lstStyle/>
          <a:p>
            <a:pPr algn="l">
              <a:lnSpc>
                <a:spcPts val="3158"/>
              </a:lnSpc>
              <a:spcBef>
                <a:spcPct val="0"/>
              </a:spcBef>
            </a:pPr>
            <a:r>
              <a:rPr lang="en-US" sz="2255" dirty="0">
                <a:solidFill>
                  <a:srgbClr val="FFFFFF"/>
                </a:solidFill>
                <a:latin typeface="Garet"/>
                <a:ea typeface="Garet"/>
                <a:cs typeface="Garet"/>
                <a:sym typeface="Garet"/>
              </a:rPr>
              <a:t>Manogna Uppu </a:t>
            </a:r>
          </a:p>
        </p:txBody>
      </p:sp>
      <p:sp>
        <p:nvSpPr>
          <p:cNvPr id="9" name="AutoShape 9"/>
          <p:cNvSpPr/>
          <p:nvPr/>
        </p:nvSpPr>
        <p:spPr>
          <a:xfrm flipV="1">
            <a:off x="838200" y="4959760"/>
            <a:ext cx="12701590" cy="19050"/>
          </a:xfrm>
          <a:prstGeom prst="line">
            <a:avLst/>
          </a:prstGeom>
          <a:ln w="38100" cap="flat">
            <a:solidFill>
              <a:srgbClr val="794CEC"/>
            </a:solidFill>
            <a:prstDash val="solid"/>
            <a:headEnd type="none" w="sm" len="sm"/>
            <a:tailEnd type="none" w="sm" len="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619</Words>
  <Application>Microsoft Office PowerPoint</Application>
  <PresentationFormat>Custom</PresentationFormat>
  <Paragraphs>96</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Garet</vt:lpstr>
      <vt:lpstr>Garet Bold</vt:lpstr>
      <vt:lpstr>Open Sans Bold</vt:lpstr>
      <vt:lpstr>Wingdings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kusumanjali</dc:creator>
  <cp:lastModifiedBy>kusu5517@gmail.com</cp:lastModifiedBy>
  <cp:revision>4</cp:revision>
  <dcterms:created xsi:type="dcterms:W3CDTF">2006-08-16T00:00:00Z</dcterms:created>
  <dcterms:modified xsi:type="dcterms:W3CDTF">2026-05-01T06:57:42Z</dcterms:modified>
  <dc:identifier>DAHIZVrEU0I</dc:identifier>
</cp:coreProperties>
</file>